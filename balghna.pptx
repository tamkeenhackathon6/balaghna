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Open Sans Bold"/>
      <p:regular r:id="rId201314"/>
    </p:embeddedFont>
    <p:embeddedFont>
      <p:font typeface="Open Sans"/>
      <p:regular r:id="rId201315"/>
    </p:embeddedFont>
    <p:embeddedFont>
      <p:font typeface="Playfair Display"/>
      <p:regular r:id="rId201316"/>
    </p:embeddedFont>
    <p:embeddedFont>
      <p:font typeface="Playfair Display Bold"/>
      <p:regular r:id="rId201317"/>
    </p:embeddedFont>
    <p:embeddedFont>
      <p:font typeface="Playfair Display Black"/>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0C0E"/>
          </a:solidFill>
          <a:ln/>
        </p:spPr>
      </p:sp>
      <p:sp>
        <p:nvSpPr>
          <p:cNvPr id="3" name="Shape 1"/>
          <p:cNvSpPr/>
          <p:nvPr/>
        </p:nvSpPr>
        <p:spPr>
          <a:xfrm>
            <a:off x="0" y="0"/>
            <a:ext cx="12191695" cy="6858000"/>
          </a:xfrm>
          <a:prstGeom prst="rect">
            <a:avLst/>
          </a:prstGeom>
          <a:solidFill>
            <a:srgbClr val="F3F3F7"/>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2.png"/><Relationship Id="rId3" Type="http://schemas.openxmlformats.org/officeDocument/2006/relationships/image" Target="../media/image-5-3.jpe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image" Target="../media/image-7-13.png"/><Relationship Id="rId14" Type="http://schemas.openxmlformats.org/officeDocument/2006/relationships/image" Target="../media/image-7-14.svg"/><Relationship Id="rId15" Type="http://schemas.openxmlformats.org/officeDocument/2006/relationships/image" Target="../media/image-7-15.png"/><Relationship Id="rId16" Type="http://schemas.openxmlformats.org/officeDocument/2006/relationships/image" Target="../media/image-7-16.svg"/><Relationship Id="rId17" Type="http://schemas.openxmlformats.org/officeDocument/2006/relationships/image" Target="../media/image-7-17.png"/><Relationship Id="rId18" Type="http://schemas.openxmlformats.org/officeDocument/2006/relationships/image" Target="../media/image-7-18.svg"/><Relationship Id="rId19" Type="http://schemas.openxmlformats.org/officeDocument/2006/relationships/image" Target="../media/image-7-19.png"/><Relationship Id="rId20" Type="http://schemas.openxmlformats.org/officeDocument/2006/relationships/slideLayout" Target="../slideLayouts/slideLayout2.xml"/><Relationship Id="rId2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9-2.png"/><Relationship Id="rId7" Type="http://schemas.openxmlformats.org/officeDocument/2006/relationships/image" Target="../media/image-9-3.svg"/><Relationship Id="rId8" Type="http://schemas.openxmlformats.org/officeDocument/2006/relationships/image" Target="../media/image-9-2.png"/><Relationship Id="rId9" Type="http://schemas.openxmlformats.org/officeDocument/2006/relationships/image" Target="../media/image-9-3.svg"/><Relationship Id="rId10" Type="http://schemas.openxmlformats.org/officeDocument/2006/relationships/image" Target="../media/image-9-10.pn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E0E0EC"/>
          </a:solidFill>
          <a:ln/>
        </p:spPr>
      </p:sp>
      <p:pic>
        <p:nvPicPr>
          <p:cNvPr id="3" name="Image 0" descr="preencoded.png">    </p:cNvPr>
          <p:cNvPicPr>
            <a:picLocks noChangeAspect="1"/>
          </p:cNvPicPr>
          <p:nvPr/>
        </p:nvPicPr>
        <p:blipFill>
          <a:blip r:embed="rId1"/>
          <a:stretch>
            <a:fillRect/>
          </a:stretch>
        </p:blipFill>
        <p:spPr>
          <a:xfrm>
            <a:off x="94454" y="506909"/>
            <a:ext cx="4382879" cy="5844084"/>
          </a:xfrm>
          <a:prstGeom prst="rect">
            <a:avLst/>
          </a:prstGeom>
        </p:spPr>
      </p:pic>
      <p:sp>
        <p:nvSpPr>
          <p:cNvPr id="4" name="Shape 1"/>
          <p:cNvSpPr/>
          <p:nvPr/>
        </p:nvSpPr>
        <p:spPr>
          <a:xfrm>
            <a:off x="5233360" y="2021483"/>
            <a:ext cx="3430006" cy="287139"/>
          </a:xfrm>
          <a:prstGeom prst="roundRect">
            <a:avLst>
              <a:gd name="adj" fmla="val 7899"/>
            </a:avLst>
          </a:prstGeom>
          <a:solidFill>
            <a:srgbClr val="E3E3E8"/>
          </a:solidFill>
          <a:ln/>
        </p:spPr>
      </p:sp>
      <p:sp>
        <p:nvSpPr>
          <p:cNvPr id="5" name="Text 2"/>
          <p:cNvSpPr/>
          <p:nvPr/>
        </p:nvSpPr>
        <p:spPr>
          <a:xfrm>
            <a:off x="5346765" y="2078137"/>
            <a:ext cx="3812782" cy="173831"/>
          </a:xfrm>
          <a:prstGeom prst="rect">
            <a:avLst/>
          </a:prstGeom>
          <a:noFill/>
          <a:ln/>
        </p:spPr>
        <p:txBody>
          <a:bodyPr wrap="none" lIns="0" tIns="0" rIns="0" bIns="0" rtlCol="0" anchor="t"/>
          <a:lstStyle/>
          <a:p>
            <a:pPr algn="l" indent="0" marL="0">
              <a:lnSpc>
                <a:spcPct val="96000"/>
              </a:lnSpc>
              <a:buNone/>
            </a:pPr>
            <a:r>
              <a:rPr lang="en-US" sz="1150" dirty="0">
                <a:solidFill>
                  <a:srgbClr val="39393C"/>
                </a:solidFill>
                <a:latin typeface="Open Sans" pitchFamily="34" charset="0"/>
                <a:ea typeface="Open Sans" pitchFamily="34" charset="-122"/>
                <a:cs typeface="Open Sans" pitchFamily="34" charset="-120"/>
              </a:rPr>
              <a:t>BALIGHNA — FROM REPORT TO RESOLUTION</a:t>
            </a:r>
            <a:endParaRPr lang="en-US" sz="1150" dirty="0"/>
          </a:p>
        </p:txBody>
      </p:sp>
      <p:sp>
        <p:nvSpPr>
          <p:cNvPr id="6" name="Text 3"/>
          <p:cNvSpPr/>
          <p:nvPr/>
        </p:nvSpPr>
        <p:spPr>
          <a:xfrm>
            <a:off x="5233360" y="2384227"/>
            <a:ext cx="6296860" cy="590649"/>
          </a:xfrm>
          <a:prstGeom prst="rect">
            <a:avLst/>
          </a:prstGeom>
          <a:noFill/>
          <a:ln/>
        </p:spPr>
        <p:txBody>
          <a:bodyPr wrap="none" lIns="0" tIns="0" rIns="0" bIns="0" rtlCol="0" anchor="t"/>
          <a:lstStyle/>
          <a:p>
            <a:pPr rtl="1" algn="r" indent="0" marL="0">
              <a:lnSpc>
                <a:spcPct val="104000"/>
              </a:lnSpc>
              <a:buNone/>
            </a:pPr>
            <a:r>
              <a:rPr lang="ar-SA" altLang="en-US" sz="3700" b="1" dirty="0">
                <a:solidFill>
                  <a:srgbClr val="101014"/>
                </a:solidFill>
                <a:latin typeface="Playfair Display Bold" pitchFamily="34" charset="0"/>
                <a:ea typeface="Playfair Display Bold" pitchFamily="34" charset="-122"/>
                <a:cs typeface="Playfair Display Bold" pitchFamily="34" charset="-120"/>
              </a:rPr>
              <a:t>بلّغنا</a:t>
            </a:r>
            <a:endParaRPr lang="ar-SA" sz="3700" dirty="0"/>
          </a:p>
        </p:txBody>
      </p:sp>
      <p:sp>
        <p:nvSpPr>
          <p:cNvPr id="7" name="Text 4"/>
          <p:cNvSpPr/>
          <p:nvPr/>
        </p:nvSpPr>
        <p:spPr>
          <a:xfrm>
            <a:off x="5233360" y="3050480"/>
            <a:ext cx="6296860" cy="472480"/>
          </a:xfrm>
          <a:prstGeom prst="rect">
            <a:avLst/>
          </a:prstGeom>
          <a:noFill/>
          <a:ln/>
        </p:spPr>
        <p:txBody>
          <a:bodyPr wrap="none" lIns="0" tIns="0" rIns="0" bIns="0" rtlCol="0" anchor="t"/>
          <a:lstStyle/>
          <a:p>
            <a:pPr rtl="1" algn="r" indent="0" marL="0">
              <a:lnSpc>
                <a:spcPct val="104000"/>
              </a:lnSpc>
              <a:buNone/>
            </a:pPr>
            <a:r>
              <a:rPr lang="ar-SA" altLang="en-US" sz="2950" b="1" dirty="0">
                <a:solidFill>
                  <a:srgbClr val="101014"/>
                </a:solidFill>
                <a:latin typeface="Playfair Display Bold" pitchFamily="34" charset="0"/>
                <a:ea typeface="Playfair Display Bold" pitchFamily="34" charset="-122"/>
                <a:cs typeface="Playfair Display Bold" pitchFamily="34" charset="-120"/>
              </a:rPr>
              <a:t>من البلاغ إلى الحل</a:t>
            </a:r>
            <a:endParaRPr lang="ar-SA" sz="2950" dirty="0"/>
          </a:p>
        </p:txBody>
      </p:sp>
      <p:sp>
        <p:nvSpPr>
          <p:cNvPr id="8" name="Text 5"/>
          <p:cNvSpPr/>
          <p:nvPr/>
        </p:nvSpPr>
        <p:spPr>
          <a:xfrm>
            <a:off x="5233360" y="4019054"/>
            <a:ext cx="6013399" cy="604838"/>
          </a:xfrm>
          <a:prstGeom prst="rect">
            <a:avLst/>
          </a:prstGeom>
          <a:noFill/>
          <a:ln/>
        </p:spPr>
        <p:txBody>
          <a:bodyPr wrap="square" lIns="0" tIns="0" rIns="0" bIns="0" rtlCol="0" anchor="t">
            <a:normAutofit/>
          </a:bodyPr>
          <a:lstStyle/>
          <a:p>
            <a:pPr rtl="1" algn="r" indent="0" marL="0">
              <a:lnSpc>
                <a:spcPct val="133000"/>
              </a:lnSpc>
              <a:buNone/>
            </a:pPr>
            <a:r>
              <a:rPr lang="ar-SA" altLang="en-US" sz="1450" dirty="0">
                <a:solidFill>
                  <a:srgbClr val="39393C"/>
                </a:solidFill>
                <a:latin typeface="Open Sans" pitchFamily="34" charset="0"/>
                <a:ea typeface="Open Sans" pitchFamily="34" charset="-122"/>
                <a:cs typeface="Open Sans" pitchFamily="34" charset="-120"/>
              </a:rPr>
              <a:t>«منصة ذكية تربط المواطن بالجهة المختصة وتتابع المشكلة حتى إثبات حلها على أرض الواقع.»</a:t>
            </a:r>
            <a:endParaRPr lang="ar-SA" sz="1450" dirty="0"/>
          </a:p>
        </p:txBody>
      </p:sp>
      <p:sp>
        <p:nvSpPr>
          <p:cNvPr id="9" name="Shape 6"/>
          <p:cNvSpPr/>
          <p:nvPr/>
        </p:nvSpPr>
        <p:spPr>
          <a:xfrm>
            <a:off x="11504821" y="3806428"/>
            <a:ext cx="25399" cy="1030089"/>
          </a:xfrm>
          <a:prstGeom prst="roundRect">
            <a:avLst>
              <a:gd name="adj" fmla="val 50001"/>
            </a:avLst>
          </a:prstGeom>
          <a:solidFill>
            <a:srgbClr val="101014"/>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173736" y="519807"/>
            <a:ext cx="356484" cy="143470"/>
          </a:xfrm>
          <a:prstGeom prst="roundRect">
            <a:avLst>
              <a:gd name="adj" fmla="val 7905"/>
            </a:avLst>
          </a:prstGeom>
          <a:noFill/>
          <a:ln w="6350">
            <a:solidFill>
              <a:srgbClr val="101014"/>
            </a:solidFill>
            <a:prstDash val="solid"/>
          </a:ln>
        </p:spPr>
      </p:sp>
      <p:sp>
        <p:nvSpPr>
          <p:cNvPr id="3" name="Text 1"/>
          <p:cNvSpPr/>
          <p:nvPr/>
        </p:nvSpPr>
        <p:spPr>
          <a:xfrm>
            <a:off x="10620804" y="548084"/>
            <a:ext cx="852764" cy="86916"/>
          </a:xfrm>
          <a:prstGeom prst="rect">
            <a:avLst/>
          </a:prstGeom>
          <a:noFill/>
          <a:ln/>
        </p:spPr>
        <p:txBody>
          <a:bodyPr wrap="none" lIns="0" tIns="0" rIns="0" bIns="0" rtlCol="0" anchor="t"/>
          <a:lstStyle/>
          <a:p>
            <a:pPr rtl="1" algn="r" indent="0" marL="0">
              <a:lnSpc>
                <a:spcPct val="96000"/>
              </a:lnSpc>
              <a:buNone/>
            </a:pPr>
            <a:r>
              <a:rPr lang="ar-SA" altLang="en-US" sz="550" dirty="0">
                <a:solidFill>
                  <a:srgbClr val="101014"/>
                </a:solidFill>
                <a:latin typeface="Open Sans" pitchFamily="34" charset="0"/>
                <a:ea typeface="Open Sans" pitchFamily="34" charset="-122"/>
                <a:cs typeface="Open Sans" pitchFamily="34" charset="-120"/>
              </a:rPr>
              <a:t>المشكلة</a:t>
            </a:r>
            <a:endParaRPr lang="ar-SA" sz="550" dirty="0"/>
          </a:p>
        </p:txBody>
      </p:sp>
      <p:sp>
        <p:nvSpPr>
          <p:cNvPr id="4" name="Text 2"/>
          <p:cNvSpPr/>
          <p:nvPr/>
        </p:nvSpPr>
        <p:spPr>
          <a:xfrm>
            <a:off x="661475" y="682129"/>
            <a:ext cx="10868745" cy="295275"/>
          </a:xfrm>
          <a:prstGeom prst="rect">
            <a:avLst/>
          </a:prstGeom>
          <a:noFill/>
          <a:ln/>
        </p:spPr>
        <p:txBody>
          <a:bodyPr wrap="none" lIns="0" tIns="0" rIns="0" bIns="0" rtlCol="0" anchor="t"/>
          <a:lstStyle/>
          <a:p>
            <a:pPr rtl="1" algn="r" indent="0" marL="0">
              <a:lnSpc>
                <a:spcPct val="104000"/>
              </a:lnSpc>
              <a:buNone/>
            </a:pPr>
            <a:r>
              <a:rPr lang="ar-SA" altLang="en-US" sz="1850" b="1" dirty="0">
                <a:solidFill>
                  <a:srgbClr val="101014"/>
                </a:solidFill>
                <a:latin typeface="Playfair Display Bold" pitchFamily="34" charset="0"/>
                <a:ea typeface="Playfair Display Bold" pitchFamily="34" charset="-122"/>
                <a:cs typeface="Playfair Display Bold" pitchFamily="34" charset="-120"/>
              </a:rPr>
              <a:t>المشكلة</a:t>
            </a:r>
            <a:endParaRPr lang="ar-SA" sz="1850" dirty="0"/>
          </a:p>
        </p:txBody>
      </p:sp>
      <p:pic>
        <p:nvPicPr>
          <p:cNvPr id="5" name="Image 0" descr="preencoded.png">    </p:cNvPr>
          <p:cNvPicPr>
            <a:picLocks noChangeAspect="1"/>
          </p:cNvPicPr>
          <p:nvPr/>
        </p:nvPicPr>
        <p:blipFill>
          <a:blip r:embed="rId1"/>
          <a:stretch>
            <a:fillRect/>
          </a:stretch>
        </p:blipFill>
        <p:spPr>
          <a:xfrm>
            <a:off x="661475" y="1101328"/>
            <a:ext cx="5319083" cy="5319216"/>
          </a:xfrm>
          <a:prstGeom prst="rect">
            <a:avLst/>
          </a:prstGeom>
        </p:spPr>
      </p:pic>
      <p:sp>
        <p:nvSpPr>
          <p:cNvPr id="6" name="Text 3"/>
          <p:cNvSpPr/>
          <p:nvPr/>
        </p:nvSpPr>
        <p:spPr>
          <a:xfrm>
            <a:off x="6217487" y="3155156"/>
            <a:ext cx="5319083" cy="226814"/>
          </a:xfrm>
          <a:prstGeom prst="rect">
            <a:avLst/>
          </a:prstGeom>
          <a:noFill/>
          <a:ln/>
        </p:spPr>
        <p:txBody>
          <a:bodyPr wrap="square" lIns="0" tIns="0" rIns="0" bIns="0" rtlCol="0" anchor="t">
            <a:normAutofit/>
          </a:bodyPr>
          <a:lstStyle/>
          <a:p>
            <a:pPr rtl="1" algn="r" indent="0" marL="0">
              <a:lnSpc>
                <a:spcPct val="100000"/>
              </a:lnSpc>
              <a:buNone/>
            </a:pPr>
            <a:r>
              <a:rPr lang="ar-SA" altLang="en-US" sz="700" dirty="0">
                <a:solidFill>
                  <a:srgbClr val="39393C"/>
                </a:solidFill>
                <a:latin typeface="Open Sans" pitchFamily="34" charset="0"/>
                <a:ea typeface="Open Sans" pitchFamily="34" charset="-122"/>
                <a:cs typeface="Open Sans" pitchFamily="34" charset="-120"/>
              </a:rPr>
              <a:t>يواجه المواطن يومياً مشكلات في الخدمات المحلية: الحفر، النفايات، الإنارة، الأرصفة، مخالفات البناء، وتقاعس الجهات. لكن التحدي الحقيقي يتجاوز مجرد تقديم الشكوى.</a:t>
            </a:r>
            <a:endParaRPr lang="ar-SA" sz="700" dirty="0"/>
          </a:p>
        </p:txBody>
      </p:sp>
      <p:sp>
        <p:nvSpPr>
          <p:cNvPr id="7" name="Text 4"/>
          <p:cNvSpPr/>
          <p:nvPr/>
        </p:nvSpPr>
        <p:spPr>
          <a:xfrm>
            <a:off x="6217487" y="3424436"/>
            <a:ext cx="5319083" cy="632916"/>
          </a:xfrm>
          <a:prstGeom prst="rect">
            <a:avLst/>
          </a:prstGeom>
          <a:noFill/>
          <a:ln/>
        </p:spPr>
        <p:txBody>
          <a:bodyPr wrap="square" lIns="0" tIns="0" rIns="37804" bIns="0" rtlCol="0" anchor="t">
            <a:normAutofit/>
          </a:bodyPr>
          <a:lstStyle/>
          <a:p>
            <a:pPr rtl="1" algn="r" marL="142240" indent="-142240">
              <a:lnSpc>
                <a:spcPct val="100000"/>
              </a:lnSpc>
              <a:buSzPct val="100000"/>
              <a:buChar char="•"/>
            </a:pPr>
            <a:r>
              <a:rPr lang="ar-SA" altLang="en-US" sz="700" dirty="0">
                <a:solidFill>
                  <a:srgbClr val="39393C"/>
                </a:solidFill>
                <a:latin typeface="Open Sans" pitchFamily="34" charset="0"/>
                <a:ea typeface="Open Sans" pitchFamily="34" charset="-122"/>
                <a:cs typeface="Open Sans" pitchFamily="34" charset="-120"/>
              </a:rPr>
              <a:t>المواطن قد لا يعرف الجهة المسؤولة</a:t>
            </a:r>
            <a:endParaRPr lang="ar-SA" sz="700" dirty="0"/>
          </a:p>
          <a:p>
            <a:pPr rtl="1" algn="r" marL="142240" indent="-142240">
              <a:lnSpc>
                <a:spcPct val="100000"/>
              </a:lnSpc>
              <a:buSzPct val="100000"/>
              <a:buChar char="•"/>
            </a:pPr>
            <a:r>
              <a:rPr lang="ar-SA" altLang="en-US" sz="700" dirty="0">
                <a:solidFill>
                  <a:srgbClr val="39393C"/>
                </a:solidFill>
                <a:latin typeface="Open Sans" pitchFamily="34" charset="0"/>
                <a:ea typeface="Open Sans" pitchFamily="34" charset="-122"/>
                <a:cs typeface="Open Sans" pitchFamily="34" charset="-120"/>
              </a:rPr>
              <a:t>البلاغ ينتقل بين عدة جهات قبل الوصول للصحيحة</a:t>
            </a:r>
            <a:endParaRPr lang="ar-SA" sz="700" dirty="0"/>
          </a:p>
          <a:p>
            <a:pPr rtl="1" algn="r" marL="142240" indent="-142240">
              <a:lnSpc>
                <a:spcPct val="100000"/>
              </a:lnSpc>
              <a:buSzPct val="100000"/>
              <a:buChar char="•"/>
            </a:pPr>
            <a:r>
              <a:rPr lang="ar-SA" altLang="en-US" sz="700" dirty="0">
                <a:solidFill>
                  <a:srgbClr val="39393C"/>
                </a:solidFill>
                <a:latin typeface="Open Sans" pitchFamily="34" charset="0"/>
                <a:ea typeface="Open Sans" pitchFamily="34" charset="-122"/>
                <a:cs typeface="Open Sans" pitchFamily="34" charset="-120"/>
              </a:rPr>
              <a:t>غياب الشفافية بعد تقديم البلاغ</a:t>
            </a:r>
            <a:endParaRPr lang="ar-SA" sz="700" dirty="0"/>
          </a:p>
          <a:p>
            <a:pPr rtl="1" algn="r" marL="142240" indent="-142240">
              <a:lnSpc>
                <a:spcPct val="100000"/>
              </a:lnSpc>
              <a:buSzPct val="100000"/>
              <a:buChar char="•"/>
            </a:pPr>
            <a:r>
              <a:rPr lang="ar-SA" altLang="en-US" sz="700" dirty="0">
                <a:solidFill>
                  <a:srgbClr val="39393C"/>
                </a:solidFill>
                <a:latin typeface="Open Sans" pitchFamily="34" charset="0"/>
                <a:ea typeface="Open Sans" pitchFamily="34" charset="-122"/>
                <a:cs typeface="Open Sans" pitchFamily="34" charset="-120"/>
              </a:rPr>
              <a:t>لا مسار واضح يربط البلاغ بالتنفيذ الميداني</a:t>
            </a:r>
            <a:endParaRPr lang="ar-SA" sz="700" dirty="0"/>
          </a:p>
          <a:p>
            <a:pPr rtl="1" algn="r" marL="142240" indent="-142240">
              <a:lnSpc>
                <a:spcPct val="100000"/>
              </a:lnSpc>
              <a:buSzPct val="100000"/>
              <a:buChar char="•"/>
            </a:pPr>
            <a:r>
              <a:rPr lang="ar-SA" altLang="en-US" sz="700" dirty="0">
                <a:solidFill>
                  <a:srgbClr val="39393C"/>
                </a:solidFill>
                <a:latin typeface="Open Sans" pitchFamily="34" charset="0"/>
                <a:ea typeface="Open Sans" pitchFamily="34" charset="-122"/>
                <a:cs typeface="Open Sans" pitchFamily="34" charset="-120"/>
              </a:rPr>
              <a:t>صعوبة قياس أداء الجهات وتحديد المشكلات الأكثر انتشاراً</a:t>
            </a:r>
            <a:endParaRPr lang="ar-SA" sz="700" dirty="0"/>
          </a:p>
        </p:txBody>
      </p:sp>
      <p:sp>
        <p:nvSpPr>
          <p:cNvPr id="8" name="Shape 5"/>
          <p:cNvSpPr/>
          <p:nvPr/>
        </p:nvSpPr>
        <p:spPr>
          <a:xfrm>
            <a:off x="6217487" y="4110434"/>
            <a:ext cx="5319083" cy="245566"/>
          </a:xfrm>
          <a:prstGeom prst="roundRect">
            <a:avLst>
              <a:gd name="adj" fmla="val 5773"/>
            </a:avLst>
          </a:prstGeom>
          <a:solidFill>
            <a:srgbClr val="E3E3E8"/>
          </a:solidFill>
          <a:ln/>
        </p:spPr>
      </p:sp>
      <p:pic>
        <p:nvPicPr>
          <p:cNvPr id="9" name="Image 1" descr="preencoded.png">    </p:cNvPr>
          <p:cNvPicPr>
            <a:picLocks noChangeAspect="1"/>
          </p:cNvPicPr>
          <p:nvPr/>
        </p:nvPicPr>
        <p:blipFill>
          <a:blip r:embed="rId2"/>
          <a:stretch>
            <a:fillRect/>
          </a:stretch>
        </p:blipFill>
        <p:spPr>
          <a:xfrm>
            <a:off x="6311941" y="4187527"/>
            <a:ext cx="118067" cy="94456"/>
          </a:xfrm>
          <a:prstGeom prst="rect">
            <a:avLst/>
          </a:prstGeom>
        </p:spPr>
      </p:pic>
      <p:sp>
        <p:nvSpPr>
          <p:cNvPr id="10" name="Text 6"/>
          <p:cNvSpPr/>
          <p:nvPr/>
        </p:nvSpPr>
        <p:spPr>
          <a:xfrm>
            <a:off x="5914877" y="4176514"/>
            <a:ext cx="5527239" cy="113407"/>
          </a:xfrm>
          <a:prstGeom prst="rect">
            <a:avLst/>
          </a:prstGeom>
          <a:noFill/>
          <a:ln/>
        </p:spPr>
        <p:txBody>
          <a:bodyPr wrap="none" lIns="0" tIns="0" rIns="0" bIns="0" rtlCol="0" anchor="t"/>
          <a:lstStyle/>
          <a:p>
            <a:pPr rtl="1" algn="r" indent="0" marL="0">
              <a:lnSpc>
                <a:spcPct val="100000"/>
              </a:lnSpc>
              <a:buNone/>
            </a:pPr>
            <a:r>
              <a:rPr lang="ar-SA" altLang="en-US" sz="700" dirty="0">
                <a:solidFill>
                  <a:srgbClr val="000000"/>
                </a:solidFill>
                <a:latin typeface="Open Sans" pitchFamily="34" charset="0"/>
                <a:ea typeface="Open Sans" pitchFamily="34" charset="-122"/>
                <a:cs typeface="Open Sans" pitchFamily="34" charset="-120"/>
              </a:rPr>
              <a:t>«المشكلة ليست في استقبال البلاغ فقط، بل في ضمان وصوله للجهة الصحيحة ومتابعته حتى التنفيذ.»</a:t>
            </a:r>
            <a:endParaRPr lang="ar-SA"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1196457" y="574973"/>
            <a:ext cx="333764" cy="188516"/>
          </a:xfrm>
          <a:prstGeom prst="roundRect">
            <a:avLst>
              <a:gd name="adj" fmla="val 7896"/>
            </a:avLst>
          </a:prstGeom>
          <a:solidFill>
            <a:srgbClr val="E3E3E8"/>
          </a:solidFill>
          <a:ln/>
        </p:spPr>
      </p:sp>
      <p:sp>
        <p:nvSpPr>
          <p:cNvPr id="3" name="Text 1"/>
          <p:cNvSpPr/>
          <p:nvPr/>
        </p:nvSpPr>
        <p:spPr>
          <a:xfrm>
            <a:off x="10661284" y="612180"/>
            <a:ext cx="794524" cy="114102"/>
          </a:xfrm>
          <a:prstGeom prst="rect">
            <a:avLst/>
          </a:prstGeom>
          <a:noFill/>
          <a:ln/>
        </p:spPr>
        <p:txBody>
          <a:bodyPr wrap="none" lIns="0" tIns="0" rIns="0" bIns="0" rtlCol="0" anchor="t"/>
          <a:lstStyle/>
          <a:p>
            <a:pPr rtl="1" algn="r" indent="0" marL="0">
              <a:lnSpc>
                <a:spcPct val="96000"/>
              </a:lnSpc>
              <a:buNone/>
            </a:pPr>
            <a:r>
              <a:rPr lang="ar-SA" altLang="en-US" sz="750" dirty="0">
                <a:solidFill>
                  <a:srgbClr val="39393C"/>
                </a:solidFill>
                <a:latin typeface="Open Sans" pitchFamily="34" charset="0"/>
                <a:ea typeface="Open Sans" pitchFamily="34" charset="-122"/>
                <a:cs typeface="Open Sans" pitchFamily="34" charset="-120"/>
              </a:rPr>
              <a:t>الحل</a:t>
            </a:r>
            <a:endParaRPr lang="ar-SA" sz="750" dirty="0"/>
          </a:p>
        </p:txBody>
      </p:sp>
      <p:sp>
        <p:nvSpPr>
          <p:cNvPr id="4" name="Text 2"/>
          <p:cNvSpPr/>
          <p:nvPr/>
        </p:nvSpPr>
        <p:spPr>
          <a:xfrm>
            <a:off x="661475" y="796032"/>
            <a:ext cx="10868745" cy="387648"/>
          </a:xfrm>
          <a:prstGeom prst="rect">
            <a:avLst/>
          </a:prstGeom>
          <a:noFill/>
          <a:ln/>
        </p:spPr>
        <p:txBody>
          <a:bodyPr wrap="none" lIns="0" tIns="0" rIns="0" bIns="0" rtlCol="0" anchor="t"/>
          <a:lstStyle/>
          <a:p>
            <a:pPr rtl="1" algn="r" indent="0" marL="0">
              <a:lnSpc>
                <a:spcPct val="104000"/>
              </a:lnSpc>
              <a:buNone/>
            </a:pPr>
            <a:r>
              <a:rPr lang="ar-SA" altLang="en-US" sz="2400" b="1" dirty="0">
                <a:solidFill>
                  <a:srgbClr val="101014"/>
                </a:solidFill>
                <a:latin typeface="Playfair Display Bold" pitchFamily="34" charset="0"/>
                <a:ea typeface="Playfair Display Bold" pitchFamily="34" charset="-122"/>
                <a:cs typeface="Playfair Display Bold" pitchFamily="34" charset="-120"/>
              </a:rPr>
              <a:t>بلّغنا — إدارة مغلقة الحلقة للبلاغات</a:t>
            </a:r>
            <a:endParaRPr lang="ar-SA" sz="2400" dirty="0"/>
          </a:p>
        </p:txBody>
      </p:sp>
      <p:sp>
        <p:nvSpPr>
          <p:cNvPr id="5" name="Text 3"/>
          <p:cNvSpPr/>
          <p:nvPr/>
        </p:nvSpPr>
        <p:spPr>
          <a:xfrm>
            <a:off x="51890" y="1305719"/>
            <a:ext cx="11478330" cy="164306"/>
          </a:xfrm>
          <a:prstGeom prst="rect">
            <a:avLst/>
          </a:prstGeom>
          <a:noFill/>
          <a:ln/>
        </p:spPr>
        <p:txBody>
          <a:bodyPr wrap="none" lIns="0" tIns="0" rIns="0" bIns="0" rtlCol="0" anchor="t"/>
          <a:lstStyle/>
          <a:p>
            <a:pPr rtl="1" algn="r" indent="0" marL="0">
              <a:lnSpc>
                <a:spcPct val="110000"/>
              </a:lnSpc>
              <a:buNone/>
            </a:pPr>
            <a:r>
              <a:rPr lang="ar-SA" altLang="en-US" sz="950" dirty="0">
                <a:solidFill>
                  <a:srgbClr val="39393C"/>
                </a:solidFill>
                <a:latin typeface="Open Sans" pitchFamily="34" charset="0"/>
                <a:ea typeface="Open Sans" pitchFamily="34" charset="-122"/>
                <a:cs typeface="Open Sans" pitchFamily="34" charset="-120"/>
              </a:rPr>
              <a:t>منصة حكومية رقمية ذكية تدير دورة حياة المشكلة كاملةً — من لحظة البلاغ حتى إثبات التنفيذ الميداني.</a:t>
            </a:r>
            <a:endParaRPr lang="ar-SA" sz="950" dirty="0"/>
          </a:p>
        </p:txBody>
      </p:sp>
      <p:pic>
        <p:nvPicPr>
          <p:cNvPr id="6" name="Image 0" descr="preencoded.png">    </p:cNvPr>
          <p:cNvPicPr>
            <a:picLocks noChangeAspect="1"/>
          </p:cNvPicPr>
          <p:nvPr/>
        </p:nvPicPr>
        <p:blipFill>
          <a:blip r:embed="rId1"/>
          <a:stretch>
            <a:fillRect/>
          </a:stretch>
        </p:blipFill>
        <p:spPr>
          <a:xfrm>
            <a:off x="10910019" y="1561604"/>
            <a:ext cx="620201" cy="744240"/>
          </a:xfrm>
          <a:prstGeom prst="rect">
            <a:avLst/>
          </a:prstGeom>
        </p:spPr>
      </p:pic>
      <p:sp>
        <p:nvSpPr>
          <p:cNvPr id="7" name="Text 4"/>
          <p:cNvSpPr/>
          <p:nvPr/>
        </p:nvSpPr>
        <p:spPr>
          <a:xfrm>
            <a:off x="661475" y="1685627"/>
            <a:ext cx="10167187" cy="193774"/>
          </a:xfrm>
          <a:prstGeom prst="rect">
            <a:avLst/>
          </a:prstGeom>
          <a:noFill/>
          <a:ln/>
        </p:spPr>
        <p:txBody>
          <a:bodyPr wrap="none" lIns="0" tIns="0" rIns="0" bIns="0" rtlCol="0" anchor="t"/>
          <a:lstStyle/>
          <a:p>
            <a:pPr rtl="1" algn="r" indent="0" marL="0">
              <a:lnSpc>
                <a:spcPct val="104000"/>
              </a:lnSpc>
              <a:buNone/>
            </a:pPr>
            <a:r>
              <a:rPr lang="ar-SA" altLang="en-US" sz="1200" b="1" dirty="0">
                <a:solidFill>
                  <a:srgbClr val="39393C"/>
                </a:solidFill>
                <a:latin typeface="Playfair Display Bold" pitchFamily="34" charset="0"/>
                <a:ea typeface="Playfair Display Bold" pitchFamily="34" charset="-122"/>
                <a:cs typeface="Playfair Display Bold" pitchFamily="34" charset="-120"/>
              </a:rPr>
              <a:t>بلاغ</a:t>
            </a:r>
            <a:endParaRPr lang="ar-SA" sz="1200" dirty="0"/>
          </a:p>
        </p:txBody>
      </p:sp>
      <p:pic>
        <p:nvPicPr>
          <p:cNvPr id="8" name="Image 1" descr="preencoded.png">    </p:cNvPr>
          <p:cNvPicPr>
            <a:picLocks noChangeAspect="1"/>
          </p:cNvPicPr>
          <p:nvPr/>
        </p:nvPicPr>
        <p:blipFill>
          <a:blip r:embed="rId2"/>
          <a:stretch>
            <a:fillRect/>
          </a:stretch>
        </p:blipFill>
        <p:spPr>
          <a:xfrm>
            <a:off x="10910019" y="2305844"/>
            <a:ext cx="620201" cy="744240"/>
          </a:xfrm>
          <a:prstGeom prst="rect">
            <a:avLst/>
          </a:prstGeom>
        </p:spPr>
      </p:pic>
      <p:sp>
        <p:nvSpPr>
          <p:cNvPr id="9" name="Text 5"/>
          <p:cNvSpPr/>
          <p:nvPr/>
        </p:nvSpPr>
        <p:spPr>
          <a:xfrm>
            <a:off x="661475" y="2429867"/>
            <a:ext cx="10167187" cy="193774"/>
          </a:xfrm>
          <a:prstGeom prst="rect">
            <a:avLst/>
          </a:prstGeom>
          <a:noFill/>
          <a:ln/>
        </p:spPr>
        <p:txBody>
          <a:bodyPr wrap="none" lIns="0" tIns="0" rIns="0" bIns="0" rtlCol="0" anchor="t"/>
          <a:lstStyle/>
          <a:p>
            <a:pPr rtl="1" algn="r" indent="0" marL="0">
              <a:lnSpc>
                <a:spcPct val="104000"/>
              </a:lnSpc>
              <a:buNone/>
            </a:pPr>
            <a:r>
              <a:rPr lang="ar-SA" altLang="en-US" sz="1200" b="1" dirty="0">
                <a:solidFill>
                  <a:srgbClr val="39393C"/>
                </a:solidFill>
                <a:latin typeface="Playfair Display Bold" pitchFamily="34" charset="0"/>
                <a:ea typeface="Playfair Display Bold" pitchFamily="34" charset="-122"/>
                <a:cs typeface="Playfair Display Bold" pitchFamily="34" charset="-120"/>
              </a:rPr>
              <a:t>تحليل ذكي</a:t>
            </a:r>
            <a:endParaRPr lang="ar-SA" sz="1200" dirty="0"/>
          </a:p>
        </p:txBody>
      </p:sp>
      <p:pic>
        <p:nvPicPr>
          <p:cNvPr id="10" name="Image 2" descr="preencoded.png">    </p:cNvPr>
          <p:cNvPicPr>
            <a:picLocks noChangeAspect="1"/>
          </p:cNvPicPr>
          <p:nvPr/>
        </p:nvPicPr>
        <p:blipFill>
          <a:blip r:embed="rId3"/>
          <a:stretch>
            <a:fillRect/>
          </a:stretch>
        </p:blipFill>
        <p:spPr>
          <a:xfrm>
            <a:off x="10910019" y="3050084"/>
            <a:ext cx="620201" cy="744240"/>
          </a:xfrm>
          <a:prstGeom prst="rect">
            <a:avLst/>
          </a:prstGeom>
        </p:spPr>
      </p:pic>
      <p:sp>
        <p:nvSpPr>
          <p:cNvPr id="11" name="Text 6"/>
          <p:cNvSpPr/>
          <p:nvPr/>
        </p:nvSpPr>
        <p:spPr>
          <a:xfrm>
            <a:off x="661475" y="3174107"/>
            <a:ext cx="10167187" cy="193774"/>
          </a:xfrm>
          <a:prstGeom prst="rect">
            <a:avLst/>
          </a:prstGeom>
          <a:noFill/>
          <a:ln/>
        </p:spPr>
        <p:txBody>
          <a:bodyPr wrap="none" lIns="0" tIns="0" rIns="0" bIns="0" rtlCol="0" anchor="t"/>
          <a:lstStyle/>
          <a:p>
            <a:pPr rtl="1" algn="r" indent="0" marL="0">
              <a:lnSpc>
                <a:spcPct val="104000"/>
              </a:lnSpc>
              <a:buNone/>
            </a:pPr>
            <a:r>
              <a:rPr lang="ar-SA" altLang="en-US" sz="1200" b="1" dirty="0">
                <a:solidFill>
                  <a:srgbClr val="39393C"/>
                </a:solidFill>
                <a:latin typeface="Playfair Display Bold" pitchFamily="34" charset="0"/>
                <a:ea typeface="Playfair Display Bold" pitchFamily="34" charset="-122"/>
                <a:cs typeface="Playfair Display Bold" pitchFamily="34" charset="-120"/>
              </a:rPr>
              <a:t>توجيه</a:t>
            </a:r>
            <a:endParaRPr lang="ar-SA" sz="1200" dirty="0"/>
          </a:p>
        </p:txBody>
      </p:sp>
      <p:pic>
        <p:nvPicPr>
          <p:cNvPr id="12" name="Image 3" descr="preencoded.png">    </p:cNvPr>
          <p:cNvPicPr>
            <a:picLocks noChangeAspect="1"/>
          </p:cNvPicPr>
          <p:nvPr/>
        </p:nvPicPr>
        <p:blipFill>
          <a:blip r:embed="rId4"/>
          <a:stretch>
            <a:fillRect/>
          </a:stretch>
        </p:blipFill>
        <p:spPr>
          <a:xfrm>
            <a:off x="10910019" y="3794323"/>
            <a:ext cx="620201" cy="744240"/>
          </a:xfrm>
          <a:prstGeom prst="rect">
            <a:avLst/>
          </a:prstGeom>
        </p:spPr>
      </p:pic>
      <p:sp>
        <p:nvSpPr>
          <p:cNvPr id="13" name="Text 7"/>
          <p:cNvSpPr/>
          <p:nvPr/>
        </p:nvSpPr>
        <p:spPr>
          <a:xfrm>
            <a:off x="661475" y="3918347"/>
            <a:ext cx="10167187" cy="193774"/>
          </a:xfrm>
          <a:prstGeom prst="rect">
            <a:avLst/>
          </a:prstGeom>
          <a:noFill/>
          <a:ln/>
        </p:spPr>
        <p:txBody>
          <a:bodyPr wrap="none" lIns="0" tIns="0" rIns="0" bIns="0" rtlCol="0" anchor="t"/>
          <a:lstStyle/>
          <a:p>
            <a:pPr rtl="1" algn="r" indent="0" marL="0">
              <a:lnSpc>
                <a:spcPct val="104000"/>
              </a:lnSpc>
              <a:buNone/>
            </a:pPr>
            <a:r>
              <a:rPr lang="ar-SA" altLang="en-US" sz="1200" b="1" dirty="0">
                <a:solidFill>
                  <a:srgbClr val="39393C"/>
                </a:solidFill>
                <a:latin typeface="Playfair Display Bold" pitchFamily="34" charset="0"/>
                <a:ea typeface="Playfair Display Bold" pitchFamily="34" charset="-122"/>
                <a:cs typeface="Playfair Display Bold" pitchFamily="34" charset="-120"/>
              </a:rPr>
              <a:t>تنفيذ ميداني</a:t>
            </a:r>
            <a:endParaRPr lang="ar-SA" sz="1200" dirty="0"/>
          </a:p>
        </p:txBody>
      </p:sp>
      <p:pic>
        <p:nvPicPr>
          <p:cNvPr id="14" name="Image 4" descr="preencoded.png">    </p:cNvPr>
          <p:cNvPicPr>
            <a:picLocks noChangeAspect="1"/>
          </p:cNvPicPr>
          <p:nvPr/>
        </p:nvPicPr>
        <p:blipFill>
          <a:blip r:embed="rId5"/>
          <a:stretch>
            <a:fillRect/>
          </a:stretch>
        </p:blipFill>
        <p:spPr>
          <a:xfrm>
            <a:off x="10910019" y="4538563"/>
            <a:ext cx="620201" cy="744240"/>
          </a:xfrm>
          <a:prstGeom prst="rect">
            <a:avLst/>
          </a:prstGeom>
        </p:spPr>
      </p:pic>
      <p:sp>
        <p:nvSpPr>
          <p:cNvPr id="15" name="Text 8"/>
          <p:cNvSpPr/>
          <p:nvPr/>
        </p:nvSpPr>
        <p:spPr>
          <a:xfrm>
            <a:off x="661475" y="4662587"/>
            <a:ext cx="10167187" cy="193774"/>
          </a:xfrm>
          <a:prstGeom prst="rect">
            <a:avLst/>
          </a:prstGeom>
          <a:noFill/>
          <a:ln/>
        </p:spPr>
        <p:txBody>
          <a:bodyPr wrap="none" lIns="0" tIns="0" rIns="0" bIns="0" rtlCol="0" anchor="t"/>
          <a:lstStyle/>
          <a:p>
            <a:pPr rtl="1" algn="r" indent="0" marL="0">
              <a:lnSpc>
                <a:spcPct val="104000"/>
              </a:lnSpc>
              <a:buNone/>
            </a:pPr>
            <a:r>
              <a:rPr lang="ar-SA" altLang="en-US" sz="1200" b="1" dirty="0">
                <a:solidFill>
                  <a:srgbClr val="39393C"/>
                </a:solidFill>
                <a:latin typeface="Playfair Display Bold" pitchFamily="34" charset="0"/>
                <a:ea typeface="Playfair Display Bold" pitchFamily="34" charset="-122"/>
                <a:cs typeface="Playfair Display Bold" pitchFamily="34" charset="-120"/>
              </a:rPr>
              <a:t>إثبات الإنجاز</a:t>
            </a:r>
            <a:endParaRPr lang="ar-SA" sz="1200" dirty="0"/>
          </a:p>
        </p:txBody>
      </p:sp>
      <p:pic>
        <p:nvPicPr>
          <p:cNvPr id="16" name="Image 5" descr="preencoded.png">    </p:cNvPr>
          <p:cNvPicPr>
            <a:picLocks noChangeAspect="1"/>
          </p:cNvPicPr>
          <p:nvPr/>
        </p:nvPicPr>
        <p:blipFill>
          <a:blip r:embed="rId6"/>
          <a:stretch>
            <a:fillRect/>
          </a:stretch>
        </p:blipFill>
        <p:spPr>
          <a:xfrm>
            <a:off x="10910019" y="5282803"/>
            <a:ext cx="620201" cy="744240"/>
          </a:xfrm>
          <a:prstGeom prst="rect">
            <a:avLst/>
          </a:prstGeom>
        </p:spPr>
      </p:pic>
      <p:sp>
        <p:nvSpPr>
          <p:cNvPr id="17" name="Text 9"/>
          <p:cNvSpPr/>
          <p:nvPr/>
        </p:nvSpPr>
        <p:spPr>
          <a:xfrm>
            <a:off x="661475" y="5406827"/>
            <a:ext cx="10167187" cy="193774"/>
          </a:xfrm>
          <a:prstGeom prst="rect">
            <a:avLst/>
          </a:prstGeom>
          <a:noFill/>
          <a:ln/>
        </p:spPr>
        <p:txBody>
          <a:bodyPr wrap="none" lIns="0" tIns="0" rIns="0" bIns="0" rtlCol="0" anchor="t"/>
          <a:lstStyle/>
          <a:p>
            <a:pPr rtl="1" algn="r" indent="0" marL="0">
              <a:lnSpc>
                <a:spcPct val="104000"/>
              </a:lnSpc>
              <a:buNone/>
            </a:pPr>
            <a:r>
              <a:rPr lang="ar-SA" altLang="en-US" sz="1200" b="1" dirty="0">
                <a:solidFill>
                  <a:srgbClr val="39393C"/>
                </a:solidFill>
                <a:latin typeface="Playfair Display Bold" pitchFamily="34" charset="0"/>
                <a:ea typeface="Playfair Display Bold" pitchFamily="34" charset="-122"/>
                <a:cs typeface="Playfair Display Bold" pitchFamily="34" charset="-120"/>
              </a:rPr>
              <a:t>تم الحل ✓</a:t>
            </a:r>
            <a:endParaRPr lang="ar-SA" sz="1200" dirty="0"/>
          </a:p>
        </p:txBody>
      </p:sp>
      <p:sp>
        <p:nvSpPr>
          <p:cNvPr id="18" name="Text 10"/>
          <p:cNvSpPr/>
          <p:nvPr/>
        </p:nvSpPr>
        <p:spPr>
          <a:xfrm>
            <a:off x="51890" y="6118622"/>
            <a:ext cx="11478330" cy="164306"/>
          </a:xfrm>
          <a:prstGeom prst="rect">
            <a:avLst/>
          </a:prstGeom>
          <a:noFill/>
          <a:ln/>
        </p:spPr>
        <p:txBody>
          <a:bodyPr wrap="none" lIns="0" tIns="0" rIns="0" bIns="0" rtlCol="0" anchor="t"/>
          <a:lstStyle/>
          <a:p>
            <a:pPr rtl="1" algn="r" indent="0" marL="0">
              <a:lnSpc>
                <a:spcPct val="110000"/>
              </a:lnSpc>
              <a:buNone/>
            </a:pPr>
            <a:r>
              <a:rPr lang="ar-SA" altLang="en-US" sz="950" dirty="0">
                <a:solidFill>
                  <a:srgbClr val="39393C"/>
                </a:solidFill>
                <a:latin typeface="Open Sans" pitchFamily="34" charset="0"/>
                <a:ea typeface="Open Sans" pitchFamily="34" charset="-122"/>
                <a:cs typeface="Open Sans" pitchFamily="34" charset="-120"/>
              </a:rPr>
              <a:t>بدلاً من «تم استلام شكواك» — بلّغنا يجيب: ما المشكلة؟ من المسؤول؟ هل بدأ التنفيذ؟ هل تم الحل؟ أين إثبات الإنجاز؟</a:t>
            </a:r>
            <a:endParaRPr lang="ar-SA"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1121747" y="519807"/>
            <a:ext cx="408473" cy="143470"/>
          </a:xfrm>
          <a:prstGeom prst="roundRect">
            <a:avLst>
              <a:gd name="adj" fmla="val 7905"/>
            </a:avLst>
          </a:prstGeom>
          <a:solidFill>
            <a:srgbClr val="E3E3E8"/>
          </a:solidFill>
          <a:ln/>
        </p:spPr>
      </p:sp>
      <p:sp>
        <p:nvSpPr>
          <p:cNvPr id="3" name="Text 1"/>
          <p:cNvSpPr/>
          <p:nvPr/>
        </p:nvSpPr>
        <p:spPr>
          <a:xfrm>
            <a:off x="10568815" y="548084"/>
            <a:ext cx="904753" cy="86916"/>
          </a:xfrm>
          <a:prstGeom prst="rect">
            <a:avLst/>
          </a:prstGeom>
          <a:noFill/>
          <a:ln/>
        </p:spPr>
        <p:txBody>
          <a:bodyPr wrap="none" lIns="0" tIns="0" rIns="0" bIns="0" rtlCol="0" anchor="t"/>
          <a:lstStyle/>
          <a:p>
            <a:pPr rtl="1" algn="r" indent="0" marL="0">
              <a:lnSpc>
                <a:spcPct val="96000"/>
              </a:lnSpc>
              <a:buNone/>
            </a:pPr>
            <a:r>
              <a:rPr lang="ar-SA" altLang="en-US" sz="550" dirty="0">
                <a:solidFill>
                  <a:srgbClr val="39393C"/>
                </a:solidFill>
                <a:latin typeface="Open Sans" pitchFamily="34" charset="0"/>
                <a:ea typeface="Open Sans" pitchFamily="34" charset="-122"/>
                <a:cs typeface="Open Sans" pitchFamily="34" charset="-120"/>
              </a:rPr>
              <a:t>رحلة البلاغ</a:t>
            </a:r>
            <a:endParaRPr lang="ar-SA" sz="550" dirty="0"/>
          </a:p>
        </p:txBody>
      </p:sp>
      <p:sp>
        <p:nvSpPr>
          <p:cNvPr id="4" name="Text 2"/>
          <p:cNvSpPr/>
          <p:nvPr/>
        </p:nvSpPr>
        <p:spPr>
          <a:xfrm>
            <a:off x="661475" y="682129"/>
            <a:ext cx="10868745" cy="295275"/>
          </a:xfrm>
          <a:prstGeom prst="rect">
            <a:avLst/>
          </a:prstGeom>
          <a:noFill/>
          <a:ln/>
        </p:spPr>
        <p:txBody>
          <a:bodyPr wrap="none" lIns="0" tIns="0" rIns="0" bIns="0" rtlCol="0" anchor="t"/>
          <a:lstStyle/>
          <a:p>
            <a:pPr rtl="1" algn="r" indent="0" marL="0">
              <a:lnSpc>
                <a:spcPct val="104000"/>
              </a:lnSpc>
              <a:buNone/>
            </a:pPr>
            <a:r>
              <a:rPr lang="ar-SA" altLang="en-US" sz="1850" b="1" dirty="0">
                <a:solidFill>
                  <a:srgbClr val="101014"/>
                </a:solidFill>
                <a:latin typeface="Playfair Display Bold" pitchFamily="34" charset="0"/>
                <a:ea typeface="Playfair Display Bold" pitchFamily="34" charset="-122"/>
                <a:cs typeface="Playfair Display Bold" pitchFamily="34" charset="-120"/>
              </a:rPr>
              <a:t>رحلة البلاغ — من المواطن إلى الحل</a:t>
            </a:r>
            <a:endParaRPr lang="ar-SA" sz="1850" dirty="0"/>
          </a:p>
        </p:txBody>
      </p:sp>
      <p:pic>
        <p:nvPicPr>
          <p:cNvPr id="5" name="Image 0" descr="preencoded.png">    </p:cNvPr>
          <p:cNvPicPr>
            <a:picLocks noChangeAspect="1"/>
          </p:cNvPicPr>
          <p:nvPr/>
        </p:nvPicPr>
        <p:blipFill>
          <a:blip r:embed="rId1"/>
          <a:stretch>
            <a:fillRect/>
          </a:stretch>
        </p:blipFill>
        <p:spPr>
          <a:xfrm>
            <a:off x="661475" y="1101328"/>
            <a:ext cx="5319083" cy="5319216"/>
          </a:xfrm>
          <a:prstGeom prst="rect">
            <a:avLst/>
          </a:prstGeom>
        </p:spPr>
      </p:pic>
      <p:sp>
        <p:nvSpPr>
          <p:cNvPr id="6" name="Text 3"/>
          <p:cNvSpPr/>
          <p:nvPr/>
        </p:nvSpPr>
        <p:spPr>
          <a:xfrm>
            <a:off x="6217487" y="3647480"/>
            <a:ext cx="5319083" cy="226814"/>
          </a:xfrm>
          <a:prstGeom prst="rect">
            <a:avLst/>
          </a:prstGeom>
          <a:noFill/>
          <a:ln/>
        </p:spPr>
        <p:txBody>
          <a:bodyPr wrap="square" lIns="0" tIns="0" rIns="0" bIns="0" rtlCol="0" anchor="t">
            <a:normAutofit/>
          </a:bodyPr>
          <a:lstStyle/>
          <a:p>
            <a:pPr rtl="1" algn="r" indent="0" marL="0">
              <a:lnSpc>
                <a:spcPct val="100000"/>
              </a:lnSpc>
              <a:buNone/>
            </a:pPr>
            <a:r>
              <a:rPr lang="ar-SA" altLang="en-US" sz="700" dirty="0">
                <a:solidFill>
                  <a:srgbClr val="39393C"/>
                </a:solidFill>
                <a:latin typeface="Open Sans" pitchFamily="34" charset="0"/>
                <a:ea typeface="Open Sans" pitchFamily="34" charset="-122"/>
                <a:cs typeface="Open Sans" pitchFamily="34" charset="-120"/>
              </a:rPr>
              <a:t>تبدأ الرحلة عندما يرسل المواطن وصفاً للمشكلة مع صورة وموقع جغرافي. يُحلّل بلّغنا البلاغ ذكياً ويوجّهه للجهة المختصة. تُعيّن المديرية موظفاً ميدانياً ينفّذ العمل ويرفع صورة إثبات الإنجاز. يتحول البلاغ إلى «تم الحل» ويستطيع المواطن والوزارة متابعة النتيجة في كل مرحلة.</a:t>
            </a:r>
            <a:endParaRPr lang="ar-SA"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0910218" y="519807"/>
            <a:ext cx="620002" cy="143470"/>
          </a:xfrm>
          <a:prstGeom prst="roundRect">
            <a:avLst>
              <a:gd name="adj" fmla="val 7905"/>
            </a:avLst>
          </a:prstGeom>
          <a:solidFill>
            <a:srgbClr val="E3E3E8"/>
          </a:solidFill>
          <a:ln/>
        </p:spPr>
      </p:sp>
      <p:sp>
        <p:nvSpPr>
          <p:cNvPr id="3" name="Text 1"/>
          <p:cNvSpPr/>
          <p:nvPr/>
        </p:nvSpPr>
        <p:spPr>
          <a:xfrm>
            <a:off x="10357285" y="548084"/>
            <a:ext cx="1116282" cy="86916"/>
          </a:xfrm>
          <a:prstGeom prst="rect">
            <a:avLst/>
          </a:prstGeom>
          <a:noFill/>
          <a:ln/>
        </p:spPr>
        <p:txBody>
          <a:bodyPr wrap="none" lIns="0" tIns="0" rIns="0" bIns="0" rtlCol="0" anchor="t"/>
          <a:lstStyle/>
          <a:p>
            <a:pPr rtl="1" algn="r" indent="0" marL="0">
              <a:lnSpc>
                <a:spcPct val="96000"/>
              </a:lnSpc>
              <a:buNone/>
            </a:pPr>
            <a:r>
              <a:rPr lang="ar-SA" altLang="en-US" sz="550" dirty="0">
                <a:solidFill>
                  <a:srgbClr val="39393C"/>
                </a:solidFill>
                <a:latin typeface="Open Sans" pitchFamily="34" charset="0"/>
                <a:ea typeface="Open Sans" pitchFamily="34" charset="-122"/>
                <a:cs typeface="Open Sans" pitchFamily="34" charset="-120"/>
              </a:rPr>
              <a:t>الذكاء الاصطناعي</a:t>
            </a:r>
            <a:endParaRPr lang="ar-SA" sz="550" dirty="0"/>
          </a:p>
        </p:txBody>
      </p:sp>
      <p:sp>
        <p:nvSpPr>
          <p:cNvPr id="4" name="Text 2"/>
          <p:cNvSpPr/>
          <p:nvPr/>
        </p:nvSpPr>
        <p:spPr>
          <a:xfrm>
            <a:off x="661475" y="682129"/>
            <a:ext cx="10868745" cy="295275"/>
          </a:xfrm>
          <a:prstGeom prst="rect">
            <a:avLst/>
          </a:prstGeom>
          <a:noFill/>
          <a:ln/>
        </p:spPr>
        <p:txBody>
          <a:bodyPr wrap="none" lIns="0" tIns="0" rIns="0" bIns="0" rtlCol="0" anchor="t"/>
          <a:lstStyle/>
          <a:p>
            <a:pPr rtl="1" algn="r" indent="0" marL="0">
              <a:lnSpc>
                <a:spcPct val="104000"/>
              </a:lnSpc>
              <a:buNone/>
            </a:pPr>
            <a:r>
              <a:rPr lang="ar-SA" altLang="en-US" sz="1850" b="1" dirty="0">
                <a:solidFill>
                  <a:srgbClr val="101014"/>
                </a:solidFill>
                <a:latin typeface="Playfair Display Bold" pitchFamily="34" charset="0"/>
                <a:ea typeface="Playfair Display Bold" pitchFamily="34" charset="-122"/>
                <a:cs typeface="Playfair Display Bold" pitchFamily="34" charset="-120"/>
              </a:rPr>
              <a:t>بلّغنا الذكي</a:t>
            </a:r>
            <a:endParaRPr lang="ar-SA" sz="1850" dirty="0"/>
          </a:p>
        </p:txBody>
      </p:sp>
      <p:sp>
        <p:nvSpPr>
          <p:cNvPr id="5" name="Text 3"/>
          <p:cNvSpPr/>
          <p:nvPr/>
        </p:nvSpPr>
        <p:spPr>
          <a:xfrm>
            <a:off x="661475" y="996255"/>
            <a:ext cx="10868745" cy="236240"/>
          </a:xfrm>
          <a:prstGeom prst="rect">
            <a:avLst/>
          </a:prstGeom>
          <a:noFill/>
          <a:ln/>
        </p:spPr>
        <p:txBody>
          <a:bodyPr wrap="none" lIns="0" tIns="0" rIns="0" bIns="0" rtlCol="0" anchor="t"/>
          <a:lstStyle/>
          <a:p>
            <a:pPr rtl="1" algn="r" indent="0" marL="0">
              <a:lnSpc>
                <a:spcPct val="104000"/>
              </a:lnSpc>
              <a:buNone/>
            </a:pPr>
            <a:r>
              <a:rPr lang="ar-SA" altLang="en-US" sz="1450" b="1" dirty="0">
                <a:solidFill>
                  <a:srgbClr val="101014"/>
                </a:solidFill>
                <a:latin typeface="Playfair Display Bold" pitchFamily="34" charset="0"/>
                <a:ea typeface="Playfair Display Bold" pitchFamily="34" charset="-122"/>
                <a:cs typeface="Playfair Display Bold" pitchFamily="34" charset="-120"/>
              </a:rPr>
              <a:t>ذكاء اصطناعي لفهم البلاغ — ليس مجرد Chatbot</a:t>
            </a:r>
            <a:endParaRPr lang="ar-SA" sz="1450" dirty="0"/>
          </a:p>
        </p:txBody>
      </p:sp>
      <p:sp>
        <p:nvSpPr>
          <p:cNvPr id="6" name="Text 4"/>
          <p:cNvSpPr/>
          <p:nvPr/>
        </p:nvSpPr>
        <p:spPr>
          <a:xfrm>
            <a:off x="51890" y="3577431"/>
            <a:ext cx="5928668" cy="113407"/>
          </a:xfrm>
          <a:prstGeom prst="rect">
            <a:avLst/>
          </a:prstGeom>
          <a:noFill/>
          <a:ln/>
        </p:spPr>
        <p:txBody>
          <a:bodyPr wrap="none" lIns="0" tIns="0" rIns="0" bIns="0" rtlCol="0" anchor="t"/>
          <a:lstStyle/>
          <a:p>
            <a:pPr rtl="1" algn="r" indent="0" marL="0">
              <a:lnSpc>
                <a:spcPct val="100000"/>
              </a:lnSpc>
              <a:buNone/>
            </a:pPr>
            <a:r>
              <a:rPr lang="ar-SA" altLang="en-US" sz="700" dirty="0">
                <a:solidFill>
                  <a:srgbClr val="39393C"/>
                </a:solidFill>
                <a:latin typeface="Open Sans" pitchFamily="34" charset="0"/>
                <a:ea typeface="Open Sans" pitchFamily="34" charset="-122"/>
                <a:cs typeface="Open Sans" pitchFamily="34" charset="-120"/>
              </a:rPr>
              <a:t>يستخدم النظام </a:t>
            </a:r>
            <a:pPr rtl="1" algn="r" indent="0" marL="0">
              <a:lnSpc>
                <a:spcPct val="100000"/>
              </a:lnSpc>
              <a:buNone/>
            </a:pPr>
            <a:r>
              <a:rPr lang="ar-SA" altLang="en-US" sz="700" b="1" dirty="0">
                <a:solidFill>
                  <a:srgbClr val="39393C"/>
                </a:solidFill>
                <a:latin typeface="Open Sans Bold" pitchFamily="34" charset="0"/>
                <a:ea typeface="Open Sans Bold" pitchFamily="34" charset="-122"/>
                <a:cs typeface="Open Sans Bold" pitchFamily="34" charset="-120"/>
              </a:rPr>
              <a:t>Qwen3 4B + Ollama</a:t>
            </a:r>
            <a:pPr rtl="1" algn="r" indent="0" marL="0">
              <a:lnSpc>
                <a:spcPct val="100000"/>
              </a:lnSpc>
              <a:buNone/>
            </a:pPr>
            <a:r>
              <a:rPr lang="ar-SA" altLang="en-US" sz="700" dirty="0">
                <a:solidFill>
                  <a:srgbClr val="39393C"/>
                </a:solidFill>
                <a:latin typeface="Open Sans" pitchFamily="34" charset="0"/>
                <a:ea typeface="Open Sans" pitchFamily="34" charset="-122"/>
                <a:cs typeface="Open Sans" pitchFamily="34" charset="-120"/>
              </a:rPr>
              <a:t> لتحليل البلاغات محلياً — يفهم العربية واللهجة السورية والوصف غير الرسمي.</a:t>
            </a:r>
            <a:endParaRPr lang="ar-SA" sz="700" dirty="0"/>
          </a:p>
        </p:txBody>
      </p:sp>
      <p:sp>
        <p:nvSpPr>
          <p:cNvPr id="7" name="Shape 5"/>
          <p:cNvSpPr/>
          <p:nvPr/>
        </p:nvSpPr>
        <p:spPr>
          <a:xfrm>
            <a:off x="661475" y="3743920"/>
            <a:ext cx="5319083" cy="245566"/>
          </a:xfrm>
          <a:prstGeom prst="roundRect">
            <a:avLst>
              <a:gd name="adj" fmla="val 5773"/>
            </a:avLst>
          </a:prstGeom>
          <a:solidFill>
            <a:srgbClr val="E3E3E8"/>
          </a:solidFill>
          <a:ln/>
        </p:spPr>
      </p:sp>
      <p:pic>
        <p:nvPicPr>
          <p:cNvPr id="8" name="Image 0" descr="preencoded.png">    </p:cNvPr>
          <p:cNvPicPr>
            <a:picLocks noChangeAspect="1"/>
          </p:cNvPicPr>
          <p:nvPr/>
        </p:nvPicPr>
        <p:blipFill>
          <a:blip r:embed="rId1"/>
          <a:stretch>
            <a:fillRect/>
          </a:stretch>
        </p:blipFill>
        <p:spPr>
          <a:xfrm>
            <a:off x="755929" y="3821013"/>
            <a:ext cx="118067" cy="94456"/>
          </a:xfrm>
          <a:prstGeom prst="rect">
            <a:avLst/>
          </a:prstGeom>
        </p:spPr>
      </p:pic>
      <p:sp>
        <p:nvSpPr>
          <p:cNvPr id="9" name="Text 6"/>
          <p:cNvSpPr/>
          <p:nvPr/>
        </p:nvSpPr>
        <p:spPr>
          <a:xfrm>
            <a:off x="358865" y="3810000"/>
            <a:ext cx="5527239" cy="113407"/>
          </a:xfrm>
          <a:prstGeom prst="rect">
            <a:avLst/>
          </a:prstGeom>
          <a:noFill/>
          <a:ln/>
        </p:spPr>
        <p:txBody>
          <a:bodyPr wrap="none" lIns="0" tIns="0" rIns="0" bIns="0" rtlCol="0" anchor="t"/>
          <a:lstStyle/>
          <a:p>
            <a:pPr rtl="1" algn="r" indent="0" marL="0">
              <a:lnSpc>
                <a:spcPct val="100000"/>
              </a:lnSpc>
              <a:buNone/>
            </a:pPr>
            <a:r>
              <a:rPr lang="ar-SA" altLang="en-US" sz="700" b="1" dirty="0">
                <a:solidFill>
                  <a:srgbClr val="000000"/>
                </a:solidFill>
                <a:latin typeface="Open Sans Bold" pitchFamily="34" charset="0"/>
                <a:ea typeface="Open Sans Bold" pitchFamily="34" charset="-122"/>
                <a:cs typeface="Open Sans Bold" pitchFamily="34" charset="-120"/>
              </a:rPr>
              <a:t>مثال:</a:t>
            </a:r>
            <a:pPr rtl="1" algn="r" indent="0" marL="0">
              <a:lnSpc>
                <a:spcPct val="100000"/>
              </a:lnSpc>
              <a:buNone/>
            </a:pPr>
            <a:r>
              <a:rPr lang="ar-SA" altLang="en-US" sz="700" dirty="0">
                <a:solidFill>
                  <a:srgbClr val="000000"/>
                </a:solidFill>
                <a:latin typeface="Open Sans" pitchFamily="34" charset="0"/>
                <a:ea typeface="Open Sans" pitchFamily="34" charset="-122"/>
                <a:cs typeface="Open Sans" pitchFamily="34" charset="-120"/>
              </a:rPr>
              <a:t> «في حفرة كبيرة بنص الحارة وكم سيارة ضربت فيها»</a:t>
            </a:r>
            <a:endParaRPr lang="ar-SA" sz="700" dirty="0"/>
          </a:p>
        </p:txBody>
      </p:sp>
      <p:sp>
        <p:nvSpPr>
          <p:cNvPr id="10" name="Shape 7"/>
          <p:cNvSpPr/>
          <p:nvPr/>
        </p:nvSpPr>
        <p:spPr>
          <a:xfrm>
            <a:off x="661475" y="4042569"/>
            <a:ext cx="5319083" cy="245566"/>
          </a:xfrm>
          <a:prstGeom prst="roundRect">
            <a:avLst>
              <a:gd name="adj" fmla="val 5773"/>
            </a:avLst>
          </a:prstGeom>
          <a:solidFill>
            <a:srgbClr val="E3E3E8"/>
          </a:solidFill>
          <a:ln/>
        </p:spPr>
      </p:sp>
      <p:pic>
        <p:nvPicPr>
          <p:cNvPr id="11" name="Image 1" descr="preencoded.png">    </p:cNvPr>
          <p:cNvPicPr>
            <a:picLocks noChangeAspect="1"/>
          </p:cNvPicPr>
          <p:nvPr/>
        </p:nvPicPr>
        <p:blipFill>
          <a:blip r:embed="rId2"/>
          <a:stretch>
            <a:fillRect/>
          </a:stretch>
        </p:blipFill>
        <p:spPr>
          <a:xfrm>
            <a:off x="755929" y="4119662"/>
            <a:ext cx="118067" cy="94456"/>
          </a:xfrm>
          <a:prstGeom prst="rect">
            <a:avLst/>
          </a:prstGeom>
        </p:spPr>
      </p:pic>
      <p:sp>
        <p:nvSpPr>
          <p:cNvPr id="12" name="Text 8"/>
          <p:cNvSpPr/>
          <p:nvPr/>
        </p:nvSpPr>
        <p:spPr>
          <a:xfrm>
            <a:off x="358865" y="4108648"/>
            <a:ext cx="5527239" cy="113407"/>
          </a:xfrm>
          <a:prstGeom prst="rect">
            <a:avLst/>
          </a:prstGeom>
          <a:noFill/>
          <a:ln/>
        </p:spPr>
        <p:txBody>
          <a:bodyPr wrap="none" lIns="0" tIns="0" rIns="0" bIns="0" rtlCol="0" anchor="t"/>
          <a:lstStyle/>
          <a:p>
            <a:pPr rtl="1" algn="r" indent="0" marL="0">
              <a:lnSpc>
                <a:spcPct val="100000"/>
              </a:lnSpc>
              <a:buNone/>
            </a:pPr>
            <a:r>
              <a:rPr lang="ar-SA" altLang="en-US" sz="700" dirty="0">
                <a:solidFill>
                  <a:srgbClr val="000000"/>
                </a:solidFill>
                <a:latin typeface="Open Sans" pitchFamily="34" charset="0"/>
                <a:ea typeface="Open Sans" pitchFamily="34" charset="-122"/>
                <a:cs typeface="Open Sans" pitchFamily="34" charset="-120"/>
              </a:rPr>
              <a:t>«النظام لا يعتمد على قرار الـAI بشكل أعمى.»</a:t>
            </a:r>
            <a:endParaRPr lang="ar-SA" sz="700" dirty="0"/>
          </a:p>
        </p:txBody>
      </p:sp>
      <p:sp>
        <p:nvSpPr>
          <p:cNvPr id="13" name="Text 9"/>
          <p:cNvSpPr/>
          <p:nvPr/>
        </p:nvSpPr>
        <p:spPr>
          <a:xfrm>
            <a:off x="51890" y="4341217"/>
            <a:ext cx="5928668" cy="113407"/>
          </a:xfrm>
          <a:prstGeom prst="rect">
            <a:avLst/>
          </a:prstGeom>
          <a:noFill/>
          <a:ln/>
        </p:spPr>
        <p:txBody>
          <a:bodyPr wrap="none" lIns="0" tIns="0" rIns="0" bIns="0" rtlCol="0" anchor="t"/>
          <a:lstStyle/>
          <a:p>
            <a:pPr rtl="1" algn="r" indent="0" marL="0">
              <a:lnSpc>
                <a:spcPct val="100000"/>
              </a:lnSpc>
              <a:buNone/>
            </a:pPr>
            <a:r>
              <a:rPr lang="ar-SA" altLang="en-US" sz="700" dirty="0">
                <a:solidFill>
                  <a:srgbClr val="39393C"/>
                </a:solidFill>
                <a:latin typeface="Open Sans" pitchFamily="34" charset="0"/>
                <a:ea typeface="Open Sans" pitchFamily="34" charset="-122"/>
                <a:cs typeface="Open Sans" pitchFamily="34" charset="-120"/>
              </a:rPr>
              <a:t>الجهات تُتحقق من قائمة رسمية معتمدة. الأولويات مُقيدة. AI لا يخترع جهات حكومية. عند تعطل Ollama — يعمل النظام بالقواعد البديلة.</a:t>
            </a:r>
            <a:endParaRPr lang="ar-SA" sz="700" dirty="0"/>
          </a:p>
        </p:txBody>
      </p:sp>
      <p:pic>
        <p:nvPicPr>
          <p:cNvPr id="14" name="Image 2" descr="preencoded.png">    </p:cNvPr>
          <p:cNvPicPr>
            <a:picLocks noChangeAspect="1"/>
          </p:cNvPicPr>
          <p:nvPr/>
        </p:nvPicPr>
        <p:blipFill>
          <a:blip r:embed="rId3"/>
          <a:stretch>
            <a:fillRect/>
          </a:stretch>
        </p:blipFill>
        <p:spPr>
          <a:xfrm>
            <a:off x="6217487" y="1356420"/>
            <a:ext cx="5319083" cy="5319216"/>
          </a:xfrm>
          <a:prstGeom prst="rect">
            <a:avLst/>
          </a:prstGeom>
        </p:spPr>
      </p:pic>
      <p:sp>
        <p:nvSpPr>
          <p:cNvPr id="15" name="Shape 10"/>
          <p:cNvSpPr/>
          <p:nvPr/>
        </p:nvSpPr>
        <p:spPr>
          <a:xfrm>
            <a:off x="7938790" y="6781800"/>
            <a:ext cx="3591430" cy="503634"/>
          </a:xfrm>
          <a:prstGeom prst="roundRect">
            <a:avLst>
              <a:gd name="adj" fmla="val 2815"/>
            </a:avLst>
          </a:prstGeom>
          <a:solidFill>
            <a:srgbClr val="F3F3F7"/>
          </a:solidFill>
          <a:ln w="12700">
            <a:solidFill>
              <a:srgbClr val="054239"/>
            </a:solidFill>
            <a:prstDash val="solid"/>
          </a:ln>
        </p:spPr>
      </p:sp>
      <p:sp>
        <p:nvSpPr>
          <p:cNvPr id="16" name="Text 11"/>
          <p:cNvSpPr/>
          <p:nvPr/>
        </p:nvSpPr>
        <p:spPr>
          <a:xfrm>
            <a:off x="8045943" y="6888956"/>
            <a:ext cx="3377123" cy="147638"/>
          </a:xfrm>
          <a:prstGeom prst="rect">
            <a:avLst/>
          </a:prstGeom>
          <a:noFill/>
          <a:ln/>
        </p:spPr>
        <p:txBody>
          <a:bodyPr wrap="none" lIns="0" tIns="0" rIns="0" bIns="0" rtlCol="0" anchor="t"/>
          <a:lstStyle/>
          <a:p>
            <a:pPr rtl="1" algn="r" indent="0" marL="0">
              <a:lnSpc>
                <a:spcPct val="104000"/>
              </a:lnSpc>
              <a:buNone/>
            </a:pPr>
            <a:r>
              <a:rPr lang="ar-SA" altLang="en-US" sz="900" b="1" dirty="0">
                <a:solidFill>
                  <a:srgbClr val="39393C"/>
                </a:solidFill>
                <a:latin typeface="Playfair Display Bold" pitchFamily="34" charset="0"/>
                <a:ea typeface="Playfair Display Bold" pitchFamily="34" charset="-122"/>
                <a:cs typeface="Playfair Display Bold" pitchFamily="34" charset="-120"/>
              </a:rPr>
              <a:t>التصنيف</a:t>
            </a:r>
            <a:endParaRPr lang="ar-SA" sz="900" dirty="0"/>
          </a:p>
        </p:txBody>
      </p:sp>
      <p:sp>
        <p:nvSpPr>
          <p:cNvPr id="17" name="Text 12"/>
          <p:cNvSpPr/>
          <p:nvPr/>
        </p:nvSpPr>
        <p:spPr>
          <a:xfrm>
            <a:off x="8045943" y="7064871"/>
            <a:ext cx="3377123" cy="113407"/>
          </a:xfrm>
          <a:prstGeom prst="rect">
            <a:avLst/>
          </a:prstGeom>
          <a:noFill/>
          <a:ln/>
        </p:spPr>
        <p:txBody>
          <a:bodyPr wrap="none" lIns="0" tIns="0" rIns="0" bIns="0" rtlCol="0" anchor="t"/>
          <a:lstStyle/>
          <a:p>
            <a:pPr rtl="1" algn="r" indent="0" marL="0">
              <a:lnSpc>
                <a:spcPct val="100000"/>
              </a:lnSpc>
              <a:buNone/>
            </a:pPr>
            <a:r>
              <a:rPr lang="ar-SA" altLang="en-US" sz="700" dirty="0">
                <a:solidFill>
                  <a:srgbClr val="39393C"/>
                </a:solidFill>
                <a:latin typeface="Open Sans" pitchFamily="34" charset="0"/>
                <a:ea typeface="Open Sans" pitchFamily="34" charset="-122"/>
                <a:cs typeface="Open Sans" pitchFamily="34" charset="-120"/>
              </a:rPr>
              <a:t>حفر وطرق محلية</a:t>
            </a:r>
            <a:endParaRPr lang="ar-SA" sz="700" dirty="0"/>
          </a:p>
        </p:txBody>
      </p:sp>
      <p:sp>
        <p:nvSpPr>
          <p:cNvPr id="18" name="Shape 13"/>
          <p:cNvSpPr/>
          <p:nvPr/>
        </p:nvSpPr>
        <p:spPr>
          <a:xfrm>
            <a:off x="4300132" y="6781800"/>
            <a:ext cx="3591430" cy="503634"/>
          </a:xfrm>
          <a:prstGeom prst="roundRect">
            <a:avLst>
              <a:gd name="adj" fmla="val 2815"/>
            </a:avLst>
          </a:prstGeom>
          <a:solidFill>
            <a:srgbClr val="F3F3F7"/>
          </a:solidFill>
          <a:ln w="12700">
            <a:solidFill>
              <a:srgbClr val="054239"/>
            </a:solidFill>
            <a:prstDash val="solid"/>
          </a:ln>
        </p:spPr>
      </p:sp>
      <p:sp>
        <p:nvSpPr>
          <p:cNvPr id="19" name="Text 14"/>
          <p:cNvSpPr/>
          <p:nvPr/>
        </p:nvSpPr>
        <p:spPr>
          <a:xfrm>
            <a:off x="4407286" y="6888956"/>
            <a:ext cx="3377123" cy="147638"/>
          </a:xfrm>
          <a:prstGeom prst="rect">
            <a:avLst/>
          </a:prstGeom>
          <a:noFill/>
          <a:ln/>
        </p:spPr>
        <p:txBody>
          <a:bodyPr wrap="none" lIns="0" tIns="0" rIns="0" bIns="0" rtlCol="0" anchor="t"/>
          <a:lstStyle/>
          <a:p>
            <a:pPr rtl="1" algn="r" indent="0" marL="0">
              <a:lnSpc>
                <a:spcPct val="104000"/>
              </a:lnSpc>
              <a:buNone/>
            </a:pPr>
            <a:r>
              <a:rPr lang="ar-SA" altLang="en-US" sz="900" b="1" dirty="0">
                <a:solidFill>
                  <a:srgbClr val="39393C"/>
                </a:solidFill>
                <a:latin typeface="Playfair Display Bold" pitchFamily="34" charset="0"/>
                <a:ea typeface="Playfair Display Bold" pitchFamily="34" charset="-122"/>
                <a:cs typeface="Playfair Display Bold" pitchFamily="34" charset="-120"/>
              </a:rPr>
              <a:t>الأولوية</a:t>
            </a:r>
            <a:endParaRPr lang="ar-SA" sz="900" dirty="0"/>
          </a:p>
        </p:txBody>
      </p:sp>
      <p:sp>
        <p:nvSpPr>
          <p:cNvPr id="20" name="Text 15"/>
          <p:cNvSpPr/>
          <p:nvPr/>
        </p:nvSpPr>
        <p:spPr>
          <a:xfrm>
            <a:off x="4407286" y="7064871"/>
            <a:ext cx="3377123" cy="113407"/>
          </a:xfrm>
          <a:prstGeom prst="rect">
            <a:avLst/>
          </a:prstGeom>
          <a:noFill/>
          <a:ln/>
        </p:spPr>
        <p:txBody>
          <a:bodyPr wrap="none" lIns="0" tIns="0" rIns="0" bIns="0" rtlCol="0" anchor="t"/>
          <a:lstStyle/>
          <a:p>
            <a:pPr rtl="1" algn="r" indent="0" marL="0">
              <a:lnSpc>
                <a:spcPct val="100000"/>
              </a:lnSpc>
              <a:buNone/>
            </a:pPr>
            <a:r>
              <a:rPr lang="ar-SA" altLang="en-US" sz="700" dirty="0">
                <a:solidFill>
                  <a:srgbClr val="39393C"/>
                </a:solidFill>
                <a:latin typeface="Open Sans" pitchFamily="34" charset="0"/>
                <a:ea typeface="Open Sans" pitchFamily="34" charset="-122"/>
                <a:cs typeface="Open Sans" pitchFamily="34" charset="-120"/>
              </a:rPr>
              <a:t>عاجل / مرتفع</a:t>
            </a:r>
            <a:endParaRPr lang="ar-SA" sz="700" dirty="0"/>
          </a:p>
        </p:txBody>
      </p:sp>
      <p:sp>
        <p:nvSpPr>
          <p:cNvPr id="21" name="Shape 16"/>
          <p:cNvSpPr/>
          <p:nvPr/>
        </p:nvSpPr>
        <p:spPr>
          <a:xfrm>
            <a:off x="661475" y="6781800"/>
            <a:ext cx="3591430" cy="503634"/>
          </a:xfrm>
          <a:prstGeom prst="roundRect">
            <a:avLst>
              <a:gd name="adj" fmla="val 2815"/>
            </a:avLst>
          </a:prstGeom>
          <a:solidFill>
            <a:srgbClr val="F3F3F7"/>
          </a:solidFill>
          <a:ln w="12700">
            <a:solidFill>
              <a:srgbClr val="054239"/>
            </a:solidFill>
            <a:prstDash val="solid"/>
          </a:ln>
        </p:spPr>
      </p:sp>
      <p:sp>
        <p:nvSpPr>
          <p:cNvPr id="22" name="Text 17"/>
          <p:cNvSpPr/>
          <p:nvPr/>
        </p:nvSpPr>
        <p:spPr>
          <a:xfrm>
            <a:off x="768628" y="6888956"/>
            <a:ext cx="3377123" cy="147638"/>
          </a:xfrm>
          <a:prstGeom prst="rect">
            <a:avLst/>
          </a:prstGeom>
          <a:noFill/>
          <a:ln/>
        </p:spPr>
        <p:txBody>
          <a:bodyPr wrap="none" lIns="0" tIns="0" rIns="0" bIns="0" rtlCol="0" anchor="t"/>
          <a:lstStyle/>
          <a:p>
            <a:pPr rtl="1" algn="r" indent="0" marL="0">
              <a:lnSpc>
                <a:spcPct val="104000"/>
              </a:lnSpc>
              <a:buNone/>
            </a:pPr>
            <a:r>
              <a:rPr lang="ar-SA" altLang="en-US" sz="900" b="1" dirty="0">
                <a:solidFill>
                  <a:srgbClr val="39393C"/>
                </a:solidFill>
                <a:latin typeface="Playfair Display Bold" pitchFamily="34" charset="0"/>
                <a:ea typeface="Playfair Display Bold" pitchFamily="34" charset="-122"/>
                <a:cs typeface="Playfair Display Bold" pitchFamily="34" charset="-120"/>
              </a:rPr>
              <a:t>الجهة</a:t>
            </a:r>
            <a:endParaRPr lang="ar-SA" sz="900" dirty="0"/>
          </a:p>
        </p:txBody>
      </p:sp>
      <p:sp>
        <p:nvSpPr>
          <p:cNvPr id="23" name="Text 18"/>
          <p:cNvSpPr/>
          <p:nvPr/>
        </p:nvSpPr>
        <p:spPr>
          <a:xfrm>
            <a:off x="768628" y="7064871"/>
            <a:ext cx="3377123" cy="113407"/>
          </a:xfrm>
          <a:prstGeom prst="rect">
            <a:avLst/>
          </a:prstGeom>
          <a:noFill/>
          <a:ln/>
        </p:spPr>
        <p:txBody>
          <a:bodyPr wrap="none" lIns="0" tIns="0" rIns="0" bIns="0" rtlCol="0" anchor="t"/>
          <a:lstStyle/>
          <a:p>
            <a:pPr rtl="1" algn="r" indent="0" marL="0">
              <a:lnSpc>
                <a:spcPct val="100000"/>
              </a:lnSpc>
              <a:buNone/>
            </a:pPr>
            <a:r>
              <a:rPr lang="ar-SA" altLang="en-US" sz="700" dirty="0">
                <a:solidFill>
                  <a:srgbClr val="39393C"/>
                </a:solidFill>
                <a:latin typeface="Open Sans" pitchFamily="34" charset="0"/>
                <a:ea typeface="Open Sans" pitchFamily="34" charset="-122"/>
                <a:cs typeface="Open Sans" pitchFamily="34" charset="-120"/>
              </a:rPr>
              <a:t>مديرية الخدمات المحلية</a:t>
            </a:r>
            <a:endParaRPr lang="ar-SA"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E0E0EC"/>
          </a:solidFill>
          <a:ln/>
        </p:spPr>
      </p:sp>
      <p:pic>
        <p:nvPicPr>
          <p:cNvPr id="3" name="Image 0" descr="preencoded.png">    </p:cNvPr>
          <p:cNvPicPr>
            <a:picLocks noChangeAspect="1"/>
          </p:cNvPicPr>
          <p:nvPr/>
        </p:nvPicPr>
        <p:blipFill>
          <a:blip r:embed="rId1"/>
          <a:stretch>
            <a:fillRect/>
          </a:stretch>
        </p:blipFill>
        <p:spPr>
          <a:xfrm>
            <a:off x="70840" y="475456"/>
            <a:ext cx="4430205" cy="5907087"/>
          </a:xfrm>
          <a:prstGeom prst="rect">
            <a:avLst/>
          </a:prstGeom>
        </p:spPr>
      </p:pic>
      <p:sp>
        <p:nvSpPr>
          <p:cNvPr id="4" name="Shape 1"/>
          <p:cNvSpPr/>
          <p:nvPr/>
        </p:nvSpPr>
        <p:spPr>
          <a:xfrm>
            <a:off x="10526846" y="538857"/>
            <a:ext cx="1003374" cy="215305"/>
          </a:xfrm>
          <a:prstGeom prst="roundRect">
            <a:avLst>
              <a:gd name="adj" fmla="val 7901"/>
            </a:avLst>
          </a:prstGeom>
          <a:noFill/>
          <a:ln w="6350">
            <a:solidFill>
              <a:srgbClr val="101014"/>
            </a:solidFill>
            <a:prstDash val="solid"/>
          </a:ln>
        </p:spPr>
      </p:sp>
      <p:sp>
        <p:nvSpPr>
          <p:cNvPr id="5" name="Text 2"/>
          <p:cNvSpPr/>
          <p:nvPr/>
        </p:nvSpPr>
        <p:spPr>
          <a:xfrm>
            <a:off x="10002290" y="581323"/>
            <a:ext cx="1442902" cy="130373"/>
          </a:xfrm>
          <a:prstGeom prst="rect">
            <a:avLst/>
          </a:prstGeom>
          <a:noFill/>
          <a:ln/>
        </p:spPr>
        <p:txBody>
          <a:bodyPr wrap="none" lIns="0" tIns="0" rIns="0" bIns="0" rtlCol="0" anchor="t"/>
          <a:lstStyle/>
          <a:p>
            <a:pPr rtl="1" algn="r" indent="0" marL="0">
              <a:lnSpc>
                <a:spcPct val="96000"/>
              </a:lnSpc>
              <a:buNone/>
            </a:pPr>
            <a:r>
              <a:rPr lang="ar-SA" altLang="en-US" sz="850" dirty="0">
                <a:solidFill>
                  <a:srgbClr val="101014"/>
                </a:solidFill>
                <a:latin typeface="Open Sans" pitchFamily="34" charset="0"/>
                <a:ea typeface="Open Sans" pitchFamily="34" charset="-122"/>
                <a:cs typeface="Open Sans" pitchFamily="34" charset="-120"/>
              </a:rPr>
              <a:t>الأدوار والصلاحيات</a:t>
            </a:r>
            <a:endParaRPr lang="ar-SA" sz="850" dirty="0"/>
          </a:p>
        </p:txBody>
      </p:sp>
      <p:sp>
        <p:nvSpPr>
          <p:cNvPr id="6" name="Text 3"/>
          <p:cNvSpPr/>
          <p:nvPr/>
        </p:nvSpPr>
        <p:spPr>
          <a:xfrm>
            <a:off x="5233360" y="796627"/>
            <a:ext cx="6296860" cy="443012"/>
          </a:xfrm>
          <a:prstGeom prst="rect">
            <a:avLst/>
          </a:prstGeom>
          <a:noFill/>
          <a:ln/>
        </p:spPr>
        <p:txBody>
          <a:bodyPr wrap="none" lIns="0" tIns="0" rIns="0" bIns="0" rtlCol="0" anchor="t"/>
          <a:lstStyle/>
          <a:p>
            <a:pPr rtl="1" algn="r" indent="0" marL="0">
              <a:lnSpc>
                <a:spcPct val="104000"/>
              </a:lnSpc>
              <a:buNone/>
            </a:pPr>
            <a:r>
              <a:rPr lang="ar-SA" altLang="en-US" sz="2750" b="1" dirty="0">
                <a:solidFill>
                  <a:srgbClr val="101014"/>
                </a:solidFill>
                <a:latin typeface="Playfair Display Bold" pitchFamily="34" charset="0"/>
                <a:ea typeface="Playfair Display Bold" pitchFamily="34" charset="-122"/>
                <a:cs typeface="Playfair Display Bold" pitchFamily="34" charset="-120"/>
              </a:rPr>
              <a:t>من المواطن إلى الوزارة</a:t>
            </a:r>
            <a:endParaRPr lang="ar-SA" sz="2750" dirty="0"/>
          </a:p>
        </p:txBody>
      </p:sp>
      <p:sp>
        <p:nvSpPr>
          <p:cNvPr id="7" name="Shape 4"/>
          <p:cNvSpPr/>
          <p:nvPr/>
        </p:nvSpPr>
        <p:spPr>
          <a:xfrm>
            <a:off x="5233360" y="1399084"/>
            <a:ext cx="6296860" cy="1002605"/>
          </a:xfrm>
          <a:prstGeom prst="roundRect">
            <a:avLst>
              <a:gd name="adj" fmla="val 2121"/>
            </a:avLst>
          </a:prstGeom>
          <a:solidFill>
            <a:srgbClr val="002623"/>
          </a:solidFill>
          <a:ln/>
        </p:spPr>
      </p:sp>
      <p:sp>
        <p:nvSpPr>
          <p:cNvPr id="8" name="Text 5"/>
          <p:cNvSpPr/>
          <p:nvPr/>
        </p:nvSpPr>
        <p:spPr>
          <a:xfrm>
            <a:off x="5375041" y="1540768"/>
            <a:ext cx="6013498" cy="221456"/>
          </a:xfrm>
          <a:prstGeom prst="rect">
            <a:avLst/>
          </a:prstGeom>
          <a:noFill/>
          <a:ln/>
        </p:spPr>
        <p:txBody>
          <a:bodyPr wrap="none" lIns="0" tIns="0" rIns="0" bIns="0" rtlCol="0" anchor="t"/>
          <a:lstStyle/>
          <a:p>
            <a:pPr rtl="1" algn="r" indent="0" marL="0">
              <a:lnSpc>
                <a:spcPct val="104000"/>
              </a:lnSpc>
              <a:buNone/>
            </a:pPr>
            <a:r>
              <a:rPr lang="ar-SA" altLang="en-US" sz="1350" b="1" dirty="0">
                <a:solidFill>
                  <a:srgbClr val="FFFFFF"/>
                </a:solidFill>
                <a:latin typeface="Playfair Display Bold" pitchFamily="34" charset="0"/>
                <a:ea typeface="Playfair Display Bold" pitchFamily="34" charset="-122"/>
                <a:cs typeface="Playfair Display Bold" pitchFamily="34" charset="-120"/>
              </a:rPr>
              <a:t>المواطن</a:t>
            </a:r>
            <a:endParaRPr lang="ar-SA" sz="1350" dirty="0"/>
          </a:p>
        </p:txBody>
      </p:sp>
      <p:sp>
        <p:nvSpPr>
          <p:cNvPr id="9" name="Text 6"/>
          <p:cNvSpPr/>
          <p:nvPr/>
        </p:nvSpPr>
        <p:spPr>
          <a:xfrm>
            <a:off x="5375041" y="1825923"/>
            <a:ext cx="6013498" cy="434082"/>
          </a:xfrm>
          <a:prstGeom prst="rect">
            <a:avLst/>
          </a:prstGeom>
          <a:noFill/>
          <a:ln/>
        </p:spPr>
        <p:txBody>
          <a:bodyPr wrap="square" lIns="0" tIns="0" rIns="56706" bIns="0" rtlCol="0" anchor="t">
            <a:normAutofit/>
          </a:bodyPr>
          <a:lstStyle/>
          <a:p>
            <a:pPr rtl="1" algn="r" marL="223520" indent="-223520">
              <a:lnSpc>
                <a:spcPct val="117000"/>
              </a:lnSpc>
              <a:buSzPct val="100000"/>
              <a:buChar char="•"/>
            </a:pPr>
            <a:r>
              <a:rPr lang="ar-SA" altLang="en-US" sz="1100" dirty="0">
                <a:solidFill>
                  <a:srgbClr val="FFFFFF"/>
                </a:solidFill>
                <a:latin typeface="Open Sans" pitchFamily="34" charset="0"/>
                <a:ea typeface="Open Sans" pitchFamily="34" charset="-122"/>
                <a:cs typeface="Open Sans" pitchFamily="34" charset="-120"/>
              </a:rPr>
              <a:t>إنشاء بلاغ مع صورة وموقع</a:t>
            </a:r>
            <a:endParaRPr lang="ar-SA" sz="1100" dirty="0"/>
          </a:p>
          <a:p>
            <a:pPr rtl="1" algn="r" marL="223520" indent="-223520">
              <a:lnSpc>
                <a:spcPct val="117000"/>
              </a:lnSpc>
              <a:buSzPct val="100000"/>
              <a:buChar char="•"/>
            </a:pPr>
            <a:r>
              <a:rPr lang="ar-SA" altLang="en-US" sz="1100" dirty="0">
                <a:solidFill>
                  <a:srgbClr val="FFFFFF"/>
                </a:solidFill>
                <a:latin typeface="Open Sans" pitchFamily="34" charset="0"/>
                <a:ea typeface="Open Sans" pitchFamily="34" charset="-122"/>
                <a:cs typeface="Open Sans" pitchFamily="34" charset="-120"/>
              </a:rPr>
              <a:t>متابعة الحالة ورؤية النتيجة</a:t>
            </a:r>
            <a:endParaRPr lang="ar-SA" sz="1100" dirty="0"/>
          </a:p>
        </p:txBody>
      </p:sp>
      <p:sp>
        <p:nvSpPr>
          <p:cNvPr id="10" name="Shape 7"/>
          <p:cNvSpPr/>
          <p:nvPr/>
        </p:nvSpPr>
        <p:spPr>
          <a:xfrm>
            <a:off x="5233360" y="2507952"/>
            <a:ext cx="6296860" cy="1002605"/>
          </a:xfrm>
          <a:prstGeom prst="roundRect">
            <a:avLst>
              <a:gd name="adj" fmla="val 2121"/>
            </a:avLst>
          </a:prstGeom>
          <a:solidFill>
            <a:srgbClr val="002623"/>
          </a:solidFill>
          <a:ln/>
        </p:spPr>
      </p:sp>
      <p:sp>
        <p:nvSpPr>
          <p:cNvPr id="11" name="Text 8"/>
          <p:cNvSpPr/>
          <p:nvPr/>
        </p:nvSpPr>
        <p:spPr>
          <a:xfrm>
            <a:off x="5375041" y="2649637"/>
            <a:ext cx="6013498" cy="221456"/>
          </a:xfrm>
          <a:prstGeom prst="rect">
            <a:avLst/>
          </a:prstGeom>
          <a:noFill/>
          <a:ln/>
        </p:spPr>
        <p:txBody>
          <a:bodyPr wrap="none" lIns="0" tIns="0" rIns="0" bIns="0" rtlCol="0" anchor="t"/>
          <a:lstStyle/>
          <a:p>
            <a:pPr rtl="1" algn="r" indent="0" marL="0">
              <a:lnSpc>
                <a:spcPct val="104000"/>
              </a:lnSpc>
              <a:buNone/>
            </a:pPr>
            <a:r>
              <a:rPr lang="ar-SA" altLang="en-US" sz="1350" b="1" dirty="0">
                <a:solidFill>
                  <a:srgbClr val="FFFFFF"/>
                </a:solidFill>
                <a:latin typeface="Playfair Display Bold" pitchFamily="34" charset="0"/>
                <a:ea typeface="Playfair Display Bold" pitchFamily="34" charset="-122"/>
                <a:cs typeface="Playfair Display Bold" pitchFamily="34" charset="-120"/>
              </a:rPr>
              <a:t>المديرية</a:t>
            </a:r>
            <a:endParaRPr lang="ar-SA" sz="1350" dirty="0"/>
          </a:p>
        </p:txBody>
      </p:sp>
      <p:sp>
        <p:nvSpPr>
          <p:cNvPr id="12" name="Text 9"/>
          <p:cNvSpPr/>
          <p:nvPr/>
        </p:nvSpPr>
        <p:spPr>
          <a:xfrm>
            <a:off x="5375041" y="2934791"/>
            <a:ext cx="6013498" cy="434082"/>
          </a:xfrm>
          <a:prstGeom prst="rect">
            <a:avLst/>
          </a:prstGeom>
          <a:noFill/>
          <a:ln/>
        </p:spPr>
        <p:txBody>
          <a:bodyPr wrap="square" lIns="0" tIns="0" rIns="56706" bIns="0" rtlCol="0" anchor="t">
            <a:normAutofit/>
          </a:bodyPr>
          <a:lstStyle/>
          <a:p>
            <a:pPr rtl="1" algn="r" marL="223520" indent="-223520">
              <a:lnSpc>
                <a:spcPct val="117000"/>
              </a:lnSpc>
              <a:buSzPct val="100000"/>
              <a:buChar char="•"/>
            </a:pPr>
            <a:r>
              <a:rPr lang="ar-SA" altLang="en-US" sz="1100" dirty="0">
                <a:solidFill>
                  <a:srgbClr val="FFFFFF"/>
                </a:solidFill>
                <a:latin typeface="Open Sans" pitchFamily="34" charset="0"/>
                <a:ea typeface="Open Sans" pitchFamily="34" charset="-122"/>
                <a:cs typeface="Open Sans" pitchFamily="34" charset="-120"/>
              </a:rPr>
              <a:t>استقبال بلاغاتها فقط</a:t>
            </a:r>
            <a:endParaRPr lang="ar-SA" sz="1100" dirty="0"/>
          </a:p>
          <a:p>
            <a:pPr rtl="1" algn="r" marL="223520" indent="-223520">
              <a:lnSpc>
                <a:spcPct val="117000"/>
              </a:lnSpc>
              <a:buSzPct val="100000"/>
              <a:buChar char="•"/>
            </a:pPr>
            <a:r>
              <a:rPr lang="ar-SA" altLang="en-US" sz="1100" dirty="0">
                <a:solidFill>
                  <a:srgbClr val="FFFFFF"/>
                </a:solidFill>
                <a:latin typeface="Open Sans" pitchFamily="34" charset="0"/>
                <a:ea typeface="Open Sans" pitchFamily="34" charset="-122"/>
                <a:cs typeface="Open Sans" pitchFamily="34" charset="-120"/>
              </a:rPr>
              <a:t>إدارة الموظفين وتعيينهم لكل بلاغ</a:t>
            </a:r>
            <a:endParaRPr lang="ar-SA" sz="1100" dirty="0"/>
          </a:p>
        </p:txBody>
      </p:sp>
      <p:sp>
        <p:nvSpPr>
          <p:cNvPr id="13" name="Shape 10"/>
          <p:cNvSpPr/>
          <p:nvPr/>
        </p:nvSpPr>
        <p:spPr>
          <a:xfrm>
            <a:off x="5233360" y="3616821"/>
            <a:ext cx="6296860" cy="1002605"/>
          </a:xfrm>
          <a:prstGeom prst="roundRect">
            <a:avLst>
              <a:gd name="adj" fmla="val 2121"/>
            </a:avLst>
          </a:prstGeom>
          <a:solidFill>
            <a:srgbClr val="002623"/>
          </a:solidFill>
          <a:ln/>
        </p:spPr>
      </p:sp>
      <p:sp>
        <p:nvSpPr>
          <p:cNvPr id="14" name="Text 11"/>
          <p:cNvSpPr/>
          <p:nvPr/>
        </p:nvSpPr>
        <p:spPr>
          <a:xfrm>
            <a:off x="5375041" y="3758505"/>
            <a:ext cx="6013498" cy="221456"/>
          </a:xfrm>
          <a:prstGeom prst="rect">
            <a:avLst/>
          </a:prstGeom>
          <a:noFill/>
          <a:ln/>
        </p:spPr>
        <p:txBody>
          <a:bodyPr wrap="none" lIns="0" tIns="0" rIns="0" bIns="0" rtlCol="0" anchor="t"/>
          <a:lstStyle/>
          <a:p>
            <a:pPr rtl="1" algn="r" indent="0" marL="0">
              <a:lnSpc>
                <a:spcPct val="104000"/>
              </a:lnSpc>
              <a:buNone/>
            </a:pPr>
            <a:r>
              <a:rPr lang="ar-SA" altLang="en-US" sz="1350" b="1" dirty="0">
                <a:solidFill>
                  <a:srgbClr val="FFFFFF"/>
                </a:solidFill>
                <a:latin typeface="Playfair Display Bold" pitchFamily="34" charset="0"/>
                <a:ea typeface="Playfair Display Bold" pitchFamily="34" charset="-122"/>
                <a:cs typeface="Playfair Display Bold" pitchFamily="34" charset="-120"/>
              </a:rPr>
              <a:t>الموظف الميداني</a:t>
            </a:r>
            <a:endParaRPr lang="ar-SA" sz="1350" dirty="0"/>
          </a:p>
        </p:txBody>
      </p:sp>
      <p:sp>
        <p:nvSpPr>
          <p:cNvPr id="15" name="Text 12"/>
          <p:cNvSpPr/>
          <p:nvPr/>
        </p:nvSpPr>
        <p:spPr>
          <a:xfrm>
            <a:off x="5375041" y="4043660"/>
            <a:ext cx="6013498" cy="434082"/>
          </a:xfrm>
          <a:prstGeom prst="rect">
            <a:avLst/>
          </a:prstGeom>
          <a:noFill/>
          <a:ln/>
        </p:spPr>
        <p:txBody>
          <a:bodyPr wrap="square" lIns="0" tIns="0" rIns="56706" bIns="0" rtlCol="0" anchor="t">
            <a:normAutofit/>
          </a:bodyPr>
          <a:lstStyle/>
          <a:p>
            <a:pPr rtl="1" algn="r" marL="223520" indent="-223520">
              <a:lnSpc>
                <a:spcPct val="117000"/>
              </a:lnSpc>
              <a:buSzPct val="100000"/>
              <a:buChar char="•"/>
            </a:pPr>
            <a:r>
              <a:rPr lang="ar-SA" altLang="en-US" sz="1100" dirty="0">
                <a:solidFill>
                  <a:srgbClr val="FFFFFF"/>
                </a:solidFill>
                <a:latin typeface="Open Sans" pitchFamily="34" charset="0"/>
                <a:ea typeface="Open Sans" pitchFamily="34" charset="-122"/>
                <a:cs typeface="Open Sans" pitchFamily="34" charset="-120"/>
              </a:rPr>
              <a:t>رؤية المهام المسندة إليه فقط</a:t>
            </a:r>
            <a:endParaRPr lang="ar-SA" sz="1100" dirty="0"/>
          </a:p>
          <a:p>
            <a:pPr rtl="1" algn="r" marL="223520" indent="-223520">
              <a:lnSpc>
                <a:spcPct val="117000"/>
              </a:lnSpc>
              <a:buSzPct val="100000"/>
              <a:buChar char="•"/>
            </a:pPr>
            <a:r>
              <a:rPr lang="ar-SA" altLang="en-US" sz="1100" dirty="0">
                <a:solidFill>
                  <a:srgbClr val="FFFFFF"/>
                </a:solidFill>
                <a:latin typeface="Open Sans" pitchFamily="34" charset="0"/>
                <a:ea typeface="Open Sans" pitchFamily="34" charset="-122"/>
                <a:cs typeface="Open Sans" pitchFamily="34" charset="-120"/>
              </a:rPr>
              <a:t>فتح الموقع وبدء التنفيذ ورفع الإثبات</a:t>
            </a:r>
            <a:endParaRPr lang="ar-SA" sz="1100" dirty="0"/>
          </a:p>
        </p:txBody>
      </p:sp>
      <p:sp>
        <p:nvSpPr>
          <p:cNvPr id="16" name="Shape 13"/>
          <p:cNvSpPr/>
          <p:nvPr/>
        </p:nvSpPr>
        <p:spPr>
          <a:xfrm>
            <a:off x="5233360" y="4725690"/>
            <a:ext cx="6296860" cy="1002605"/>
          </a:xfrm>
          <a:prstGeom prst="roundRect">
            <a:avLst>
              <a:gd name="adj" fmla="val 2121"/>
            </a:avLst>
          </a:prstGeom>
          <a:solidFill>
            <a:srgbClr val="002623"/>
          </a:solidFill>
          <a:ln/>
        </p:spPr>
      </p:sp>
      <p:sp>
        <p:nvSpPr>
          <p:cNvPr id="17" name="Text 14"/>
          <p:cNvSpPr/>
          <p:nvPr/>
        </p:nvSpPr>
        <p:spPr>
          <a:xfrm>
            <a:off x="5375041" y="4867374"/>
            <a:ext cx="6013498" cy="221456"/>
          </a:xfrm>
          <a:prstGeom prst="rect">
            <a:avLst/>
          </a:prstGeom>
          <a:noFill/>
          <a:ln/>
        </p:spPr>
        <p:txBody>
          <a:bodyPr wrap="none" lIns="0" tIns="0" rIns="0" bIns="0" rtlCol="0" anchor="t"/>
          <a:lstStyle/>
          <a:p>
            <a:pPr rtl="1" algn="r" indent="0" marL="0">
              <a:lnSpc>
                <a:spcPct val="104000"/>
              </a:lnSpc>
              <a:buNone/>
            </a:pPr>
            <a:r>
              <a:rPr lang="ar-SA" altLang="en-US" sz="1350" b="1" dirty="0">
                <a:solidFill>
                  <a:srgbClr val="FFFFFF"/>
                </a:solidFill>
                <a:latin typeface="Playfair Display Bold" pitchFamily="34" charset="0"/>
                <a:ea typeface="Playfair Display Bold" pitchFamily="34" charset="-122"/>
                <a:cs typeface="Playfair Display Bold" pitchFamily="34" charset="-120"/>
              </a:rPr>
              <a:t>الوزارة</a:t>
            </a:r>
            <a:endParaRPr lang="ar-SA" sz="1350" dirty="0"/>
          </a:p>
        </p:txBody>
      </p:sp>
      <p:sp>
        <p:nvSpPr>
          <p:cNvPr id="18" name="Text 15"/>
          <p:cNvSpPr/>
          <p:nvPr/>
        </p:nvSpPr>
        <p:spPr>
          <a:xfrm>
            <a:off x="5375041" y="5152529"/>
            <a:ext cx="6013498" cy="434082"/>
          </a:xfrm>
          <a:prstGeom prst="rect">
            <a:avLst/>
          </a:prstGeom>
          <a:noFill/>
          <a:ln/>
        </p:spPr>
        <p:txBody>
          <a:bodyPr wrap="square" lIns="0" tIns="0" rIns="56706" bIns="0" rtlCol="0" anchor="t">
            <a:normAutofit/>
          </a:bodyPr>
          <a:lstStyle/>
          <a:p>
            <a:pPr rtl="1" algn="r" marL="223520" indent="-223520">
              <a:lnSpc>
                <a:spcPct val="117000"/>
              </a:lnSpc>
              <a:buSzPct val="100000"/>
              <a:buChar char="•"/>
            </a:pPr>
            <a:r>
              <a:rPr lang="ar-SA" altLang="en-US" sz="1100" dirty="0">
                <a:solidFill>
                  <a:srgbClr val="FFFFFF"/>
                </a:solidFill>
                <a:latin typeface="Open Sans" pitchFamily="34" charset="0"/>
                <a:ea typeface="Open Sans" pitchFamily="34" charset="-122"/>
                <a:cs typeface="Open Sans" pitchFamily="34" charset="-120"/>
              </a:rPr>
              <a:t>مراقبة جميع البلاغات والمديريات</a:t>
            </a:r>
            <a:endParaRPr lang="ar-SA" sz="1100" dirty="0"/>
          </a:p>
          <a:p>
            <a:pPr rtl="1" algn="r" marL="223520" indent="-223520">
              <a:lnSpc>
                <a:spcPct val="117000"/>
              </a:lnSpc>
              <a:buSzPct val="100000"/>
              <a:buChar char="•"/>
            </a:pPr>
            <a:r>
              <a:rPr lang="ar-SA" altLang="en-US" sz="1100" dirty="0">
                <a:solidFill>
                  <a:srgbClr val="FFFFFF"/>
                </a:solidFill>
                <a:latin typeface="Open Sans" pitchFamily="34" charset="0"/>
                <a:ea typeface="Open Sans" pitchFamily="34" charset="-122"/>
                <a:cs typeface="Open Sans" pitchFamily="34" charset="-120"/>
              </a:rPr>
              <a:t>عرض الإحصائيات ومراقبة الأداء</a:t>
            </a:r>
            <a:endParaRPr lang="ar-SA" sz="1100" dirty="0"/>
          </a:p>
        </p:txBody>
      </p:sp>
      <p:sp>
        <p:nvSpPr>
          <p:cNvPr id="19" name="Shape 16"/>
          <p:cNvSpPr/>
          <p:nvPr/>
        </p:nvSpPr>
        <p:spPr>
          <a:xfrm>
            <a:off x="5233360" y="5847854"/>
            <a:ext cx="6296860" cy="471190"/>
          </a:xfrm>
          <a:prstGeom prst="roundRect">
            <a:avLst>
              <a:gd name="adj" fmla="val 4513"/>
            </a:avLst>
          </a:prstGeom>
          <a:solidFill>
            <a:srgbClr val="E3E3E8"/>
          </a:solidFill>
          <a:ln/>
        </p:spPr>
      </p:sp>
      <p:pic>
        <p:nvPicPr>
          <p:cNvPr id="20" name="Image 1" descr="preencoded.png">    </p:cNvPr>
          <p:cNvPicPr>
            <a:picLocks noChangeAspect="1"/>
          </p:cNvPicPr>
          <p:nvPr/>
        </p:nvPicPr>
        <p:blipFill>
          <a:blip r:embed="rId2"/>
          <a:stretch>
            <a:fillRect/>
          </a:stretch>
        </p:blipFill>
        <p:spPr>
          <a:xfrm>
            <a:off x="5375041" y="6005215"/>
            <a:ext cx="177200" cy="141684"/>
          </a:xfrm>
          <a:prstGeom prst="rect">
            <a:avLst/>
          </a:prstGeom>
        </p:spPr>
      </p:pic>
      <p:sp>
        <p:nvSpPr>
          <p:cNvPr id="21" name="Text 17"/>
          <p:cNvSpPr/>
          <p:nvPr/>
        </p:nvSpPr>
        <p:spPr>
          <a:xfrm>
            <a:off x="5693922" y="5989538"/>
            <a:ext cx="6304202" cy="198438"/>
          </a:xfrm>
          <a:prstGeom prst="rect">
            <a:avLst/>
          </a:prstGeom>
          <a:noFill/>
          <a:ln/>
        </p:spPr>
        <p:txBody>
          <a:bodyPr wrap="none" lIns="0" tIns="0" rIns="0" bIns="0" rtlCol="0" anchor="t"/>
          <a:lstStyle/>
          <a:p>
            <a:pPr algn="l" indent="0" marL="0">
              <a:lnSpc>
                <a:spcPct val="117000"/>
              </a:lnSpc>
              <a:buNone/>
            </a:pPr>
            <a:r>
              <a:rPr lang="ar-SA" altLang="en-US" sz="1100" b="1" dirty="0">
                <a:solidFill>
                  <a:srgbClr val="000000"/>
                </a:solidFill>
                <a:latin typeface="Open Sans Bold" pitchFamily="34" charset="0"/>
                <a:ea typeface="Open Sans Bold" pitchFamily="34" charset="-122"/>
                <a:cs typeface="Open Sans Bold" pitchFamily="34" charset="-120"/>
              </a:rPr>
              <a:t>Role-Based Access Control:</a:t>
            </a:r>
            <a:pPr rtl="1" algn="l" indent="0" marL="0">
              <a:lnSpc>
                <a:spcPct val="117000"/>
              </a:lnSpc>
              <a:buNone/>
            </a:pPr>
            <a:r>
              <a:rPr lang="ar-SA" altLang="en-US" sz="1100" dirty="0">
                <a:solidFill>
                  <a:srgbClr val="000000"/>
                </a:solidFill>
                <a:latin typeface="Open Sans" pitchFamily="34" charset="0"/>
                <a:ea typeface="Open Sans" pitchFamily="34" charset="-122"/>
                <a:cs typeface="Open Sans" pitchFamily="34" charset="-120"/>
              </a:rPr>
              <a:t> كل مستخدم يرى فقط البيانات والعمليات التي تسمح بها صلاحياته.</a:t>
            </a:r>
            <a:endParaRPr lang="ar-SA"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0447671" y="576659"/>
            <a:ext cx="1082549" cy="251420"/>
          </a:xfrm>
          <a:prstGeom prst="roundRect">
            <a:avLst>
              <a:gd name="adj" fmla="val 7894"/>
            </a:avLst>
          </a:prstGeom>
          <a:noFill/>
          <a:ln w="6350">
            <a:solidFill>
              <a:srgbClr val="101014"/>
            </a:solidFill>
            <a:prstDash val="solid"/>
          </a:ln>
        </p:spPr>
      </p:sp>
      <p:sp>
        <p:nvSpPr>
          <p:cNvPr id="3" name="Text 1"/>
          <p:cNvSpPr/>
          <p:nvPr/>
        </p:nvSpPr>
        <p:spPr>
          <a:xfrm>
            <a:off x="9937303" y="626269"/>
            <a:ext cx="1493701" cy="152202"/>
          </a:xfrm>
          <a:prstGeom prst="rect">
            <a:avLst/>
          </a:prstGeom>
          <a:noFill/>
          <a:ln/>
        </p:spPr>
        <p:txBody>
          <a:bodyPr wrap="none" lIns="0" tIns="0" rIns="0" bIns="0" rtlCol="0" anchor="t"/>
          <a:lstStyle/>
          <a:p>
            <a:pPr rtl="1" algn="r" indent="0" marL="0">
              <a:lnSpc>
                <a:spcPct val="96000"/>
              </a:lnSpc>
              <a:buNone/>
            </a:pPr>
            <a:r>
              <a:rPr lang="ar-SA" altLang="en-US" sz="1000" dirty="0">
                <a:solidFill>
                  <a:srgbClr val="101014"/>
                </a:solidFill>
                <a:latin typeface="Open Sans" pitchFamily="34" charset="0"/>
                <a:ea typeface="Open Sans" pitchFamily="34" charset="-122"/>
                <a:cs typeface="Open Sans" pitchFamily="34" charset="-120"/>
              </a:rPr>
              <a:t>الجهات الحكومية</a:t>
            </a:r>
            <a:endParaRPr lang="ar-SA" sz="1000" dirty="0"/>
          </a:p>
        </p:txBody>
      </p:sp>
      <p:sp>
        <p:nvSpPr>
          <p:cNvPr id="4" name="Text 2"/>
          <p:cNvSpPr/>
          <p:nvPr/>
        </p:nvSpPr>
        <p:spPr>
          <a:xfrm>
            <a:off x="661475" y="885924"/>
            <a:ext cx="10868745" cy="516731"/>
          </a:xfrm>
          <a:prstGeom prst="rect">
            <a:avLst/>
          </a:prstGeom>
          <a:noFill/>
          <a:ln/>
        </p:spPr>
        <p:txBody>
          <a:bodyPr wrap="none" lIns="0" tIns="0" rIns="0" bIns="0" rtlCol="0" anchor="t"/>
          <a:lstStyle/>
          <a:p>
            <a:pPr rtl="1" algn="r" indent="0" marL="0">
              <a:lnSpc>
                <a:spcPct val="104000"/>
              </a:lnSpc>
              <a:buNone/>
            </a:pPr>
            <a:r>
              <a:rPr lang="ar-SA" altLang="en-US" sz="3250" b="1" dirty="0">
                <a:solidFill>
                  <a:srgbClr val="101014"/>
                </a:solidFill>
                <a:latin typeface="Playfair Display Bold" pitchFamily="34" charset="0"/>
                <a:ea typeface="Playfair Display Bold" pitchFamily="34" charset="-122"/>
                <a:cs typeface="Playfair Display Bold" pitchFamily="34" charset="-120"/>
              </a:rPr>
              <a:t>التوجيه إلى الجهة المختصة</a:t>
            </a:r>
            <a:endParaRPr lang="ar-SA" sz="32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199532" y="1619647"/>
            <a:ext cx="330688" cy="330696"/>
          </a:xfrm>
          <a:prstGeom prst="rect">
            <a:avLst/>
          </a:prstGeom>
        </p:spPr>
      </p:pic>
      <p:sp>
        <p:nvSpPr>
          <p:cNvPr id="6" name="Text 3"/>
          <p:cNvSpPr/>
          <p:nvPr/>
        </p:nvSpPr>
        <p:spPr>
          <a:xfrm>
            <a:off x="8027886" y="2131219"/>
            <a:ext cx="3502334" cy="258465"/>
          </a:xfrm>
          <a:prstGeom prst="rect">
            <a:avLst/>
          </a:prstGeom>
          <a:noFill/>
          <a:ln/>
        </p:spPr>
        <p:txBody>
          <a:bodyPr wrap="none" lIns="0" tIns="0" rIns="0" bIns="0" rtlCol="0" anchor="t"/>
          <a:lstStyle/>
          <a:p>
            <a:pPr rtl="1" algn="r" indent="0" marL="0">
              <a:lnSpc>
                <a:spcPct val="104000"/>
              </a:lnSpc>
              <a:buNone/>
            </a:pPr>
            <a:r>
              <a:rPr lang="ar-SA" altLang="en-US" sz="1600" b="1" dirty="0">
                <a:solidFill>
                  <a:srgbClr val="39393C"/>
                </a:solidFill>
                <a:latin typeface="Playfair Display Bold" pitchFamily="34" charset="0"/>
                <a:ea typeface="Playfair Display Bold" pitchFamily="34" charset="-122"/>
                <a:cs typeface="Playfair Display Bold" pitchFamily="34" charset="-120"/>
              </a:rPr>
              <a:t>الخدمات المحلية</a:t>
            </a:r>
            <a:endParaRPr lang="ar-SA" sz="1600" dirty="0"/>
          </a:p>
        </p:txBody>
      </p:sp>
      <p:sp>
        <p:nvSpPr>
          <p:cNvPr id="7" name="Text 4"/>
          <p:cNvSpPr/>
          <p:nvPr/>
        </p:nvSpPr>
        <p:spPr>
          <a:xfrm>
            <a:off x="8027886" y="2476500"/>
            <a:ext cx="3502334" cy="248047"/>
          </a:xfrm>
          <a:prstGeom prst="rect">
            <a:avLst/>
          </a:prstGeom>
          <a:noFill/>
          <a:ln/>
        </p:spPr>
        <p:txBody>
          <a:bodyPr wrap="none" lIns="0" tIns="0" rIns="0" bIns="0" rtlCol="0" anchor="t"/>
          <a:lstStyle/>
          <a:p>
            <a:pPr rtl="1" algn="r" indent="0" marL="0">
              <a:lnSpc>
                <a:spcPct val="125000"/>
              </a:lnSpc>
              <a:buNone/>
            </a:pPr>
            <a:r>
              <a:rPr lang="ar-SA" altLang="en-US" sz="1300" dirty="0">
                <a:solidFill>
                  <a:srgbClr val="39393C"/>
                </a:solidFill>
                <a:latin typeface="Open Sans" pitchFamily="34" charset="0"/>
                <a:ea typeface="Open Sans" pitchFamily="34" charset="-122"/>
                <a:cs typeface="Open Sans" pitchFamily="34" charset="-120"/>
              </a:rPr>
              <a:t>النفايات، النظافة، الحدائق، الأرصفة، الإنارة، الحفر</a:t>
            </a:r>
            <a:endParaRPr lang="ar-SA"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16327" y="1619647"/>
            <a:ext cx="330688" cy="330696"/>
          </a:xfrm>
          <a:prstGeom prst="rect">
            <a:avLst/>
          </a:prstGeom>
        </p:spPr>
      </p:pic>
      <p:sp>
        <p:nvSpPr>
          <p:cNvPr id="9" name="Text 5"/>
          <p:cNvSpPr/>
          <p:nvPr/>
        </p:nvSpPr>
        <p:spPr>
          <a:xfrm>
            <a:off x="4344680" y="2131219"/>
            <a:ext cx="3502334" cy="258465"/>
          </a:xfrm>
          <a:prstGeom prst="rect">
            <a:avLst/>
          </a:prstGeom>
          <a:noFill/>
          <a:ln/>
        </p:spPr>
        <p:txBody>
          <a:bodyPr wrap="none" lIns="0" tIns="0" rIns="0" bIns="0" rtlCol="0" anchor="t"/>
          <a:lstStyle/>
          <a:p>
            <a:pPr rtl="1" algn="r" indent="0" marL="0">
              <a:lnSpc>
                <a:spcPct val="104000"/>
              </a:lnSpc>
              <a:buNone/>
            </a:pPr>
            <a:r>
              <a:rPr lang="ar-SA" altLang="en-US" sz="1600" b="1" dirty="0">
                <a:solidFill>
                  <a:srgbClr val="39393C"/>
                </a:solidFill>
                <a:latin typeface="Playfair Display Bold" pitchFamily="34" charset="0"/>
                <a:ea typeface="Playfair Display Bold" pitchFamily="34" charset="-122"/>
                <a:cs typeface="Playfair Display Bold" pitchFamily="34" charset="-120"/>
              </a:rPr>
              <a:t>المجالس المحلية</a:t>
            </a:r>
            <a:endParaRPr lang="ar-SA" sz="1600" dirty="0"/>
          </a:p>
        </p:txBody>
      </p:sp>
      <p:sp>
        <p:nvSpPr>
          <p:cNvPr id="10" name="Text 6"/>
          <p:cNvSpPr/>
          <p:nvPr/>
        </p:nvSpPr>
        <p:spPr>
          <a:xfrm>
            <a:off x="4344680" y="2476500"/>
            <a:ext cx="3502334" cy="248047"/>
          </a:xfrm>
          <a:prstGeom prst="rect">
            <a:avLst/>
          </a:prstGeom>
          <a:noFill/>
          <a:ln/>
        </p:spPr>
        <p:txBody>
          <a:bodyPr wrap="none" lIns="0" tIns="0" rIns="0" bIns="0" rtlCol="0" anchor="t"/>
          <a:lstStyle/>
          <a:p>
            <a:pPr rtl="1" algn="r" indent="0" marL="0">
              <a:lnSpc>
                <a:spcPct val="125000"/>
              </a:lnSpc>
              <a:buNone/>
            </a:pPr>
            <a:r>
              <a:rPr lang="ar-SA" altLang="en-US" sz="1300" dirty="0">
                <a:solidFill>
                  <a:srgbClr val="39393C"/>
                </a:solidFill>
                <a:latin typeface="Open Sans" pitchFamily="34" charset="0"/>
                <a:ea typeface="Open Sans" pitchFamily="34" charset="-122"/>
                <a:cs typeface="Open Sans" pitchFamily="34" charset="-120"/>
              </a:rPr>
              <a:t>متابعة أداء الوحدات الإدارية وشكاوى المواطنين</a:t>
            </a:r>
            <a:endParaRPr lang="ar-SA"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33121" y="1619647"/>
            <a:ext cx="330688" cy="330696"/>
          </a:xfrm>
          <a:prstGeom prst="rect">
            <a:avLst/>
          </a:prstGeom>
        </p:spPr>
      </p:pic>
      <p:sp>
        <p:nvSpPr>
          <p:cNvPr id="12" name="Text 7"/>
          <p:cNvSpPr/>
          <p:nvPr/>
        </p:nvSpPr>
        <p:spPr>
          <a:xfrm>
            <a:off x="661475" y="2131219"/>
            <a:ext cx="3502334" cy="258465"/>
          </a:xfrm>
          <a:prstGeom prst="rect">
            <a:avLst/>
          </a:prstGeom>
          <a:noFill/>
          <a:ln/>
        </p:spPr>
        <p:txBody>
          <a:bodyPr wrap="none" lIns="0" tIns="0" rIns="0" bIns="0" rtlCol="0" anchor="t"/>
          <a:lstStyle/>
          <a:p>
            <a:pPr rtl="1" algn="r" indent="0" marL="0">
              <a:lnSpc>
                <a:spcPct val="104000"/>
              </a:lnSpc>
              <a:buNone/>
            </a:pPr>
            <a:r>
              <a:rPr lang="ar-SA" altLang="en-US" sz="1600" b="1" dirty="0">
                <a:solidFill>
                  <a:srgbClr val="39393C"/>
                </a:solidFill>
                <a:latin typeface="Playfair Display Bold" pitchFamily="34" charset="0"/>
                <a:ea typeface="Playfair Display Bold" pitchFamily="34" charset="-122"/>
                <a:cs typeface="Playfair Display Bold" pitchFamily="34" charset="-120"/>
              </a:rPr>
              <a:t>التخطيط والتنمية</a:t>
            </a:r>
            <a:endParaRPr lang="ar-SA" sz="1600" dirty="0"/>
          </a:p>
        </p:txBody>
      </p:sp>
      <p:sp>
        <p:nvSpPr>
          <p:cNvPr id="13" name="Text 8"/>
          <p:cNvSpPr/>
          <p:nvPr/>
        </p:nvSpPr>
        <p:spPr>
          <a:xfrm>
            <a:off x="661475" y="2476500"/>
            <a:ext cx="3502334" cy="248047"/>
          </a:xfrm>
          <a:prstGeom prst="rect">
            <a:avLst/>
          </a:prstGeom>
          <a:noFill/>
          <a:ln/>
        </p:spPr>
        <p:txBody>
          <a:bodyPr wrap="none" lIns="0" tIns="0" rIns="0" bIns="0" rtlCol="0" anchor="t"/>
          <a:lstStyle/>
          <a:p>
            <a:pPr rtl="1" algn="r" indent="0" marL="0">
              <a:lnSpc>
                <a:spcPct val="125000"/>
              </a:lnSpc>
              <a:buNone/>
            </a:pPr>
            <a:r>
              <a:rPr lang="ar-SA" altLang="en-US" sz="1300" dirty="0">
                <a:solidFill>
                  <a:srgbClr val="39393C"/>
                </a:solidFill>
                <a:latin typeface="Open Sans" pitchFamily="34" charset="0"/>
                <a:ea typeface="Open Sans" pitchFamily="34" charset="-122"/>
                <a:cs typeface="Open Sans" pitchFamily="34" charset="-120"/>
              </a:rPr>
              <a:t>احتياجات المناطق، الأولويات والمشاريع</a:t>
            </a:r>
            <a:endParaRPr lang="ar-SA" sz="130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99532" y="3013968"/>
            <a:ext cx="330688" cy="330696"/>
          </a:xfrm>
          <a:prstGeom prst="rect">
            <a:avLst/>
          </a:prstGeom>
        </p:spPr>
      </p:pic>
      <p:sp>
        <p:nvSpPr>
          <p:cNvPr id="15" name="Text 9"/>
          <p:cNvSpPr/>
          <p:nvPr/>
        </p:nvSpPr>
        <p:spPr>
          <a:xfrm>
            <a:off x="8027886" y="3525540"/>
            <a:ext cx="3502334" cy="258465"/>
          </a:xfrm>
          <a:prstGeom prst="rect">
            <a:avLst/>
          </a:prstGeom>
          <a:noFill/>
          <a:ln/>
        </p:spPr>
        <p:txBody>
          <a:bodyPr wrap="none" lIns="0" tIns="0" rIns="0" bIns="0" rtlCol="0" anchor="t"/>
          <a:lstStyle/>
          <a:p>
            <a:pPr rtl="1" algn="r" indent="0" marL="0">
              <a:lnSpc>
                <a:spcPct val="104000"/>
              </a:lnSpc>
              <a:buNone/>
            </a:pPr>
            <a:r>
              <a:rPr lang="ar-SA" altLang="en-US" sz="1600" b="1" dirty="0">
                <a:solidFill>
                  <a:srgbClr val="39393C"/>
                </a:solidFill>
                <a:latin typeface="Playfair Display Bold" pitchFamily="34" charset="0"/>
                <a:ea typeface="Playfair Display Bold" pitchFamily="34" charset="-122"/>
                <a:cs typeface="Playfair Display Bold" pitchFamily="34" charset="-120"/>
              </a:rPr>
              <a:t>التنظيم العمراني</a:t>
            </a:r>
            <a:endParaRPr lang="ar-SA" sz="1600" dirty="0"/>
          </a:p>
        </p:txBody>
      </p:sp>
      <p:sp>
        <p:nvSpPr>
          <p:cNvPr id="16" name="Text 10"/>
          <p:cNvSpPr/>
          <p:nvPr/>
        </p:nvSpPr>
        <p:spPr>
          <a:xfrm>
            <a:off x="8027886" y="3870821"/>
            <a:ext cx="3502334" cy="248047"/>
          </a:xfrm>
          <a:prstGeom prst="rect">
            <a:avLst/>
          </a:prstGeom>
          <a:noFill/>
          <a:ln/>
        </p:spPr>
        <p:txBody>
          <a:bodyPr wrap="none" lIns="0" tIns="0" rIns="0" bIns="0" rtlCol="0" anchor="t"/>
          <a:lstStyle/>
          <a:p>
            <a:pPr rtl="1" algn="r" indent="0" marL="0">
              <a:lnSpc>
                <a:spcPct val="125000"/>
              </a:lnSpc>
              <a:buNone/>
            </a:pPr>
            <a:r>
              <a:rPr lang="ar-SA" altLang="en-US" sz="1300" dirty="0">
                <a:solidFill>
                  <a:srgbClr val="39393C"/>
                </a:solidFill>
                <a:latin typeface="Open Sans" pitchFamily="34" charset="0"/>
                <a:ea typeface="Open Sans" pitchFamily="34" charset="-122"/>
                <a:cs typeface="Open Sans" pitchFamily="34" charset="-120"/>
              </a:rPr>
              <a:t>التنظيم، البناء، الطرق واستعمالات الأراضي</a:t>
            </a:r>
            <a:endParaRPr lang="ar-SA" sz="1300" dirty="0"/>
          </a:p>
        </p:txBody>
      </p:sp>
      <p:pic>
        <p:nvPicPr>
          <p:cNvPr id="1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16327" y="3013968"/>
            <a:ext cx="330688" cy="330696"/>
          </a:xfrm>
          <a:prstGeom prst="rect">
            <a:avLst/>
          </a:prstGeom>
        </p:spPr>
      </p:pic>
      <p:sp>
        <p:nvSpPr>
          <p:cNvPr id="18" name="Text 11"/>
          <p:cNvSpPr/>
          <p:nvPr/>
        </p:nvSpPr>
        <p:spPr>
          <a:xfrm>
            <a:off x="4344680" y="3525540"/>
            <a:ext cx="3502334" cy="258465"/>
          </a:xfrm>
          <a:prstGeom prst="rect">
            <a:avLst/>
          </a:prstGeom>
          <a:noFill/>
          <a:ln/>
        </p:spPr>
        <p:txBody>
          <a:bodyPr wrap="none" lIns="0" tIns="0" rIns="0" bIns="0" rtlCol="0" anchor="t"/>
          <a:lstStyle/>
          <a:p>
            <a:pPr rtl="1" algn="r" indent="0" marL="0">
              <a:lnSpc>
                <a:spcPct val="104000"/>
              </a:lnSpc>
              <a:buNone/>
            </a:pPr>
            <a:r>
              <a:rPr lang="ar-SA" altLang="en-US" sz="1600" b="1" dirty="0">
                <a:solidFill>
                  <a:srgbClr val="39393C"/>
                </a:solidFill>
                <a:latin typeface="Playfair Display Bold" pitchFamily="34" charset="0"/>
                <a:ea typeface="Playfair Display Bold" pitchFamily="34" charset="-122"/>
                <a:cs typeface="Playfair Display Bold" pitchFamily="34" charset="-120"/>
              </a:rPr>
              <a:t>الشؤون الفنية</a:t>
            </a:r>
            <a:endParaRPr lang="ar-SA" sz="1600" dirty="0"/>
          </a:p>
        </p:txBody>
      </p:sp>
      <p:sp>
        <p:nvSpPr>
          <p:cNvPr id="19" name="Text 12"/>
          <p:cNvSpPr/>
          <p:nvPr/>
        </p:nvSpPr>
        <p:spPr>
          <a:xfrm>
            <a:off x="4344680" y="3870821"/>
            <a:ext cx="3502334" cy="248047"/>
          </a:xfrm>
          <a:prstGeom prst="rect">
            <a:avLst/>
          </a:prstGeom>
          <a:noFill/>
          <a:ln/>
        </p:spPr>
        <p:txBody>
          <a:bodyPr wrap="none" lIns="0" tIns="0" rIns="0" bIns="0" rtlCol="0" anchor="t"/>
          <a:lstStyle/>
          <a:p>
            <a:pPr rtl="1" algn="r" indent="0" marL="0">
              <a:lnSpc>
                <a:spcPct val="125000"/>
              </a:lnSpc>
              <a:buNone/>
            </a:pPr>
            <a:r>
              <a:rPr lang="ar-SA" altLang="en-US" sz="1300" dirty="0">
                <a:solidFill>
                  <a:srgbClr val="39393C"/>
                </a:solidFill>
                <a:latin typeface="Open Sans" pitchFamily="34" charset="0"/>
                <a:ea typeface="Open Sans" pitchFamily="34" charset="-122"/>
                <a:cs typeface="Open Sans" pitchFamily="34" charset="-120"/>
              </a:rPr>
              <a:t>المشاريع الخدمية، البنية التحتية والصيانة</a:t>
            </a:r>
            <a:endParaRPr lang="ar-SA" sz="1300" dirty="0"/>
          </a:p>
        </p:txBody>
      </p:sp>
      <p:pic>
        <p:nvPicPr>
          <p:cNvPr id="2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33121" y="3013968"/>
            <a:ext cx="330688" cy="330696"/>
          </a:xfrm>
          <a:prstGeom prst="rect">
            <a:avLst/>
          </a:prstGeom>
        </p:spPr>
      </p:pic>
      <p:sp>
        <p:nvSpPr>
          <p:cNvPr id="21" name="Text 13"/>
          <p:cNvSpPr/>
          <p:nvPr/>
        </p:nvSpPr>
        <p:spPr>
          <a:xfrm>
            <a:off x="661475" y="3525540"/>
            <a:ext cx="3502334" cy="258465"/>
          </a:xfrm>
          <a:prstGeom prst="rect">
            <a:avLst/>
          </a:prstGeom>
          <a:noFill/>
          <a:ln/>
        </p:spPr>
        <p:txBody>
          <a:bodyPr wrap="none" lIns="0" tIns="0" rIns="0" bIns="0" rtlCol="0" anchor="t"/>
          <a:lstStyle/>
          <a:p>
            <a:pPr rtl="1" algn="r" indent="0" marL="0">
              <a:lnSpc>
                <a:spcPct val="104000"/>
              </a:lnSpc>
              <a:buNone/>
            </a:pPr>
            <a:r>
              <a:rPr lang="ar-SA" altLang="en-US" sz="1600" b="1" dirty="0">
                <a:solidFill>
                  <a:srgbClr val="39393C"/>
                </a:solidFill>
                <a:latin typeface="Playfair Display Bold" pitchFamily="34" charset="0"/>
                <a:ea typeface="Playfair Display Bold" pitchFamily="34" charset="-122"/>
                <a:cs typeface="Playfair Display Bold" pitchFamily="34" charset="-120"/>
              </a:rPr>
              <a:t>الشؤون المالية</a:t>
            </a:r>
            <a:endParaRPr lang="ar-SA" sz="1600" dirty="0"/>
          </a:p>
        </p:txBody>
      </p:sp>
      <p:sp>
        <p:nvSpPr>
          <p:cNvPr id="22" name="Text 14"/>
          <p:cNvSpPr/>
          <p:nvPr/>
        </p:nvSpPr>
        <p:spPr>
          <a:xfrm>
            <a:off x="661475" y="3870821"/>
            <a:ext cx="3502334" cy="248047"/>
          </a:xfrm>
          <a:prstGeom prst="rect">
            <a:avLst/>
          </a:prstGeom>
          <a:noFill/>
          <a:ln/>
        </p:spPr>
        <p:txBody>
          <a:bodyPr wrap="none" lIns="0" tIns="0" rIns="0" bIns="0" rtlCol="0" anchor="t"/>
          <a:lstStyle/>
          <a:p>
            <a:pPr rtl="1" algn="r" indent="0" marL="0">
              <a:lnSpc>
                <a:spcPct val="125000"/>
              </a:lnSpc>
              <a:buNone/>
            </a:pPr>
            <a:r>
              <a:rPr lang="ar-SA" altLang="en-US" sz="1300" dirty="0">
                <a:solidFill>
                  <a:srgbClr val="39393C"/>
                </a:solidFill>
                <a:latin typeface="Open Sans" pitchFamily="34" charset="0"/>
                <a:ea typeface="Open Sans" pitchFamily="34" charset="-122"/>
                <a:cs typeface="Open Sans" pitchFamily="34" charset="-120"/>
              </a:rPr>
              <a:t>الموازنات، الإيرادات والنفقات</a:t>
            </a:r>
            <a:endParaRPr lang="ar-SA" sz="1300" dirty="0"/>
          </a:p>
        </p:txBody>
      </p:sp>
      <p:pic>
        <p:nvPicPr>
          <p:cNvPr id="23"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199532" y="4408289"/>
            <a:ext cx="330688" cy="330696"/>
          </a:xfrm>
          <a:prstGeom prst="rect">
            <a:avLst/>
          </a:prstGeom>
        </p:spPr>
      </p:pic>
      <p:sp>
        <p:nvSpPr>
          <p:cNvPr id="24" name="Text 15"/>
          <p:cNvSpPr/>
          <p:nvPr/>
        </p:nvSpPr>
        <p:spPr>
          <a:xfrm>
            <a:off x="8027886" y="4919861"/>
            <a:ext cx="3502334" cy="258465"/>
          </a:xfrm>
          <a:prstGeom prst="rect">
            <a:avLst/>
          </a:prstGeom>
          <a:noFill/>
          <a:ln/>
        </p:spPr>
        <p:txBody>
          <a:bodyPr wrap="none" lIns="0" tIns="0" rIns="0" bIns="0" rtlCol="0" anchor="t"/>
          <a:lstStyle/>
          <a:p>
            <a:pPr rtl="1" algn="r" indent="0" marL="0">
              <a:lnSpc>
                <a:spcPct val="104000"/>
              </a:lnSpc>
              <a:buNone/>
            </a:pPr>
            <a:r>
              <a:rPr lang="ar-SA" altLang="en-US" sz="1600" b="1" dirty="0">
                <a:solidFill>
                  <a:srgbClr val="39393C"/>
                </a:solidFill>
                <a:latin typeface="Playfair Display Bold" pitchFamily="34" charset="0"/>
                <a:ea typeface="Playfair Display Bold" pitchFamily="34" charset="-122"/>
                <a:cs typeface="Playfair Display Bold" pitchFamily="34" charset="-120"/>
              </a:rPr>
              <a:t>الرقابة والتفتيش</a:t>
            </a:r>
            <a:endParaRPr lang="ar-SA" sz="1600" dirty="0"/>
          </a:p>
        </p:txBody>
      </p:sp>
      <p:sp>
        <p:nvSpPr>
          <p:cNvPr id="25" name="Text 16"/>
          <p:cNvSpPr/>
          <p:nvPr/>
        </p:nvSpPr>
        <p:spPr>
          <a:xfrm>
            <a:off x="8027886" y="5265142"/>
            <a:ext cx="3502334" cy="248047"/>
          </a:xfrm>
          <a:prstGeom prst="rect">
            <a:avLst/>
          </a:prstGeom>
          <a:noFill/>
          <a:ln/>
        </p:spPr>
        <p:txBody>
          <a:bodyPr wrap="none" lIns="0" tIns="0" rIns="0" bIns="0" rtlCol="0" anchor="t"/>
          <a:lstStyle/>
          <a:p>
            <a:pPr rtl="1" algn="r" indent="0" marL="0">
              <a:lnSpc>
                <a:spcPct val="125000"/>
              </a:lnSpc>
              <a:buNone/>
            </a:pPr>
            <a:r>
              <a:rPr lang="ar-SA" altLang="en-US" sz="1300" dirty="0">
                <a:solidFill>
                  <a:srgbClr val="39393C"/>
                </a:solidFill>
                <a:latin typeface="Open Sans" pitchFamily="34" charset="0"/>
                <a:ea typeface="Open Sans" pitchFamily="34" charset="-122"/>
                <a:cs typeface="Open Sans" pitchFamily="34" charset="-120"/>
              </a:rPr>
              <a:t>الشكاوى، المخالفات ومراقبة الأداء</a:t>
            </a:r>
            <a:endParaRPr lang="ar-SA" sz="1300" dirty="0"/>
          </a:p>
        </p:txBody>
      </p:sp>
      <p:pic>
        <p:nvPicPr>
          <p:cNvPr id="26"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516327" y="4408289"/>
            <a:ext cx="330688" cy="330696"/>
          </a:xfrm>
          <a:prstGeom prst="rect">
            <a:avLst/>
          </a:prstGeom>
        </p:spPr>
      </p:pic>
      <p:sp>
        <p:nvSpPr>
          <p:cNvPr id="27" name="Text 17"/>
          <p:cNvSpPr/>
          <p:nvPr/>
        </p:nvSpPr>
        <p:spPr>
          <a:xfrm>
            <a:off x="4344680" y="4919861"/>
            <a:ext cx="3502334" cy="258465"/>
          </a:xfrm>
          <a:prstGeom prst="rect">
            <a:avLst/>
          </a:prstGeom>
          <a:noFill/>
          <a:ln/>
        </p:spPr>
        <p:txBody>
          <a:bodyPr wrap="none" lIns="0" tIns="0" rIns="0" bIns="0" rtlCol="0" anchor="t"/>
          <a:lstStyle/>
          <a:p>
            <a:pPr rtl="1" algn="r" indent="0" marL="0">
              <a:lnSpc>
                <a:spcPct val="104000"/>
              </a:lnSpc>
              <a:buNone/>
            </a:pPr>
            <a:r>
              <a:rPr lang="ar-SA" altLang="en-US" sz="1600" b="1" dirty="0">
                <a:solidFill>
                  <a:srgbClr val="39393C"/>
                </a:solidFill>
                <a:latin typeface="Playfair Display Bold" pitchFamily="34" charset="0"/>
                <a:ea typeface="Playfair Display Bold" pitchFamily="34" charset="-122"/>
                <a:cs typeface="Playfair Display Bold" pitchFamily="34" charset="-120"/>
              </a:rPr>
              <a:t>المحافظات</a:t>
            </a:r>
            <a:endParaRPr lang="ar-SA" sz="1600" dirty="0"/>
          </a:p>
        </p:txBody>
      </p:sp>
      <p:sp>
        <p:nvSpPr>
          <p:cNvPr id="28" name="Text 18"/>
          <p:cNvSpPr/>
          <p:nvPr/>
        </p:nvSpPr>
        <p:spPr>
          <a:xfrm>
            <a:off x="4344680" y="5265142"/>
            <a:ext cx="3502334" cy="248047"/>
          </a:xfrm>
          <a:prstGeom prst="rect">
            <a:avLst/>
          </a:prstGeom>
          <a:noFill/>
          <a:ln/>
        </p:spPr>
        <p:txBody>
          <a:bodyPr wrap="none" lIns="0" tIns="0" rIns="0" bIns="0" rtlCol="0" anchor="t"/>
          <a:lstStyle/>
          <a:p>
            <a:pPr rtl="1" algn="r" indent="0" marL="0">
              <a:lnSpc>
                <a:spcPct val="125000"/>
              </a:lnSpc>
              <a:buNone/>
            </a:pPr>
            <a:r>
              <a:rPr lang="ar-SA" altLang="en-US" sz="1300" dirty="0">
                <a:solidFill>
                  <a:srgbClr val="39393C"/>
                </a:solidFill>
                <a:latin typeface="Open Sans" pitchFamily="34" charset="0"/>
                <a:ea typeface="Open Sans" pitchFamily="34" charset="-122"/>
                <a:cs typeface="Open Sans" pitchFamily="34" charset="-120"/>
              </a:rPr>
              <a:t>المشاكل على مستوى المحافظة والتنسيق</a:t>
            </a:r>
            <a:endParaRPr lang="ar-SA" sz="1300" dirty="0"/>
          </a:p>
        </p:txBody>
      </p:sp>
      <p:pic>
        <p:nvPicPr>
          <p:cNvPr id="29"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833121" y="4408289"/>
            <a:ext cx="330688" cy="330696"/>
          </a:xfrm>
          <a:prstGeom prst="rect">
            <a:avLst/>
          </a:prstGeom>
        </p:spPr>
      </p:pic>
      <p:sp>
        <p:nvSpPr>
          <p:cNvPr id="30" name="Text 19"/>
          <p:cNvSpPr/>
          <p:nvPr/>
        </p:nvSpPr>
        <p:spPr>
          <a:xfrm>
            <a:off x="661475" y="4919861"/>
            <a:ext cx="3502334" cy="258465"/>
          </a:xfrm>
          <a:prstGeom prst="rect">
            <a:avLst/>
          </a:prstGeom>
          <a:noFill/>
          <a:ln/>
        </p:spPr>
        <p:txBody>
          <a:bodyPr wrap="none" lIns="0" tIns="0" rIns="0" bIns="0" rtlCol="0" anchor="t"/>
          <a:lstStyle/>
          <a:p>
            <a:pPr rtl="1" algn="r" indent="0" marL="0">
              <a:lnSpc>
                <a:spcPct val="104000"/>
              </a:lnSpc>
              <a:buNone/>
            </a:pPr>
            <a:r>
              <a:rPr lang="ar-SA" altLang="en-US" sz="1600" b="1" dirty="0">
                <a:solidFill>
                  <a:srgbClr val="39393C"/>
                </a:solidFill>
                <a:latin typeface="Playfair Display Bold" pitchFamily="34" charset="0"/>
                <a:ea typeface="Playfair Display Bold" pitchFamily="34" charset="-122"/>
                <a:cs typeface="Playfair Display Bold" pitchFamily="34" charset="-120"/>
              </a:rPr>
              <a:t>البلديات والوحدات الإدارية</a:t>
            </a:r>
            <a:endParaRPr lang="ar-SA" sz="1600" dirty="0"/>
          </a:p>
        </p:txBody>
      </p:sp>
      <p:sp>
        <p:nvSpPr>
          <p:cNvPr id="31" name="Text 20"/>
          <p:cNvSpPr/>
          <p:nvPr/>
        </p:nvSpPr>
        <p:spPr>
          <a:xfrm>
            <a:off x="661475" y="5265142"/>
            <a:ext cx="3502334" cy="248047"/>
          </a:xfrm>
          <a:prstGeom prst="rect">
            <a:avLst/>
          </a:prstGeom>
          <a:noFill/>
          <a:ln/>
        </p:spPr>
        <p:txBody>
          <a:bodyPr wrap="none" lIns="0" tIns="0" rIns="0" bIns="0" rtlCol="0" anchor="t"/>
          <a:lstStyle/>
          <a:p>
            <a:pPr rtl="1" algn="r" indent="0" marL="0">
              <a:lnSpc>
                <a:spcPct val="125000"/>
              </a:lnSpc>
              <a:buNone/>
            </a:pPr>
            <a:r>
              <a:rPr lang="ar-SA" altLang="en-US" sz="1300" dirty="0">
                <a:solidFill>
                  <a:srgbClr val="39393C"/>
                </a:solidFill>
                <a:latin typeface="Open Sans" pitchFamily="34" charset="0"/>
                <a:ea typeface="Open Sans" pitchFamily="34" charset="-122"/>
                <a:cs typeface="Open Sans" pitchFamily="34" charset="-120"/>
              </a:rPr>
              <a:t>التنفيذ المباشر للخدمات المحلية</a:t>
            </a:r>
            <a:endParaRPr lang="ar-SA" sz="1300" dirty="0"/>
          </a:p>
        </p:txBody>
      </p:sp>
      <p:sp>
        <p:nvSpPr>
          <p:cNvPr id="32" name="Shape 21"/>
          <p:cNvSpPr/>
          <p:nvPr/>
        </p:nvSpPr>
        <p:spPr>
          <a:xfrm>
            <a:off x="661475" y="5675908"/>
            <a:ext cx="10868745" cy="605433"/>
          </a:xfrm>
          <a:prstGeom prst="roundRect">
            <a:avLst>
              <a:gd name="adj" fmla="val 4098"/>
            </a:avLst>
          </a:prstGeom>
          <a:solidFill>
            <a:srgbClr val="E3E3E8"/>
          </a:solidFill>
          <a:ln/>
        </p:spPr>
      </p:sp>
      <p:pic>
        <p:nvPicPr>
          <p:cNvPr id="33" name="Image 9" descr="preencoded.png">    </p:cNvPr>
          <p:cNvPicPr>
            <a:picLocks noChangeAspect="1"/>
          </p:cNvPicPr>
          <p:nvPr/>
        </p:nvPicPr>
        <p:blipFill>
          <a:blip r:embed="rId19"/>
          <a:stretch>
            <a:fillRect/>
          </a:stretch>
        </p:blipFill>
        <p:spPr>
          <a:xfrm>
            <a:off x="826769" y="5888633"/>
            <a:ext cx="206667" cy="165298"/>
          </a:xfrm>
          <a:prstGeom prst="rect">
            <a:avLst/>
          </a:prstGeom>
        </p:spPr>
      </p:pic>
      <p:sp>
        <p:nvSpPr>
          <p:cNvPr id="34" name="Text 22"/>
          <p:cNvSpPr/>
          <p:nvPr/>
        </p:nvSpPr>
        <p:spPr>
          <a:xfrm>
            <a:off x="589146" y="5861844"/>
            <a:ext cx="10775780" cy="248047"/>
          </a:xfrm>
          <a:prstGeom prst="rect">
            <a:avLst/>
          </a:prstGeom>
          <a:noFill/>
          <a:ln/>
        </p:spPr>
        <p:txBody>
          <a:bodyPr wrap="none" lIns="0" tIns="0" rIns="0" bIns="0" rtlCol="0" anchor="t"/>
          <a:lstStyle/>
          <a:p>
            <a:pPr rtl="1" algn="r" indent="0" marL="0">
              <a:lnSpc>
                <a:spcPct val="125000"/>
              </a:lnSpc>
              <a:buNone/>
            </a:pPr>
            <a:r>
              <a:rPr lang="ar-SA" altLang="en-US" sz="1300" dirty="0">
                <a:solidFill>
                  <a:srgbClr val="000000"/>
                </a:solidFill>
                <a:latin typeface="Open Sans" pitchFamily="34" charset="0"/>
                <a:ea typeface="Open Sans" pitchFamily="34" charset="-122"/>
                <a:cs typeface="Open Sans" pitchFamily="34" charset="-120"/>
              </a:rPr>
              <a:t>«كل بلاغ يصل إلى الجهة الأقرب إلى طبيعة المشكلة.»</a:t>
            </a:r>
            <a:endParaRPr lang="ar-SA"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0930160" y="519807"/>
            <a:ext cx="600060" cy="143470"/>
          </a:xfrm>
          <a:prstGeom prst="roundRect">
            <a:avLst>
              <a:gd name="adj" fmla="val 7905"/>
            </a:avLst>
          </a:prstGeom>
          <a:noFill/>
          <a:ln w="6350">
            <a:solidFill>
              <a:srgbClr val="101014"/>
            </a:solidFill>
            <a:prstDash val="solid"/>
          </a:ln>
        </p:spPr>
      </p:sp>
      <p:sp>
        <p:nvSpPr>
          <p:cNvPr id="3" name="Text 1"/>
          <p:cNvSpPr/>
          <p:nvPr/>
        </p:nvSpPr>
        <p:spPr>
          <a:xfrm>
            <a:off x="10377228" y="548084"/>
            <a:ext cx="1096340" cy="86916"/>
          </a:xfrm>
          <a:prstGeom prst="rect">
            <a:avLst/>
          </a:prstGeom>
          <a:noFill/>
          <a:ln/>
        </p:spPr>
        <p:txBody>
          <a:bodyPr wrap="none" lIns="0" tIns="0" rIns="0" bIns="0" rtlCol="0" anchor="t"/>
          <a:lstStyle/>
          <a:p>
            <a:pPr rtl="1" algn="r" indent="0" marL="0">
              <a:lnSpc>
                <a:spcPct val="96000"/>
              </a:lnSpc>
              <a:buNone/>
            </a:pPr>
            <a:r>
              <a:rPr lang="ar-SA" altLang="en-US" sz="550" dirty="0">
                <a:solidFill>
                  <a:srgbClr val="101014"/>
                </a:solidFill>
                <a:latin typeface="Open Sans" pitchFamily="34" charset="0"/>
                <a:ea typeface="Open Sans" pitchFamily="34" charset="-122"/>
                <a:cs typeface="Open Sans" pitchFamily="34" charset="-120"/>
              </a:rPr>
              <a:t>المعمارية التقنية</a:t>
            </a:r>
            <a:endParaRPr lang="ar-SA" sz="550" dirty="0"/>
          </a:p>
        </p:txBody>
      </p:sp>
      <p:sp>
        <p:nvSpPr>
          <p:cNvPr id="4" name="Text 2"/>
          <p:cNvSpPr/>
          <p:nvPr/>
        </p:nvSpPr>
        <p:spPr>
          <a:xfrm>
            <a:off x="661475" y="682129"/>
            <a:ext cx="10868745" cy="295275"/>
          </a:xfrm>
          <a:prstGeom prst="rect">
            <a:avLst/>
          </a:prstGeom>
          <a:noFill/>
          <a:ln/>
        </p:spPr>
        <p:txBody>
          <a:bodyPr wrap="none" lIns="0" tIns="0" rIns="0" bIns="0" rtlCol="0" anchor="t"/>
          <a:lstStyle/>
          <a:p>
            <a:pPr rtl="1" algn="r" indent="0" marL="0">
              <a:lnSpc>
                <a:spcPct val="104000"/>
              </a:lnSpc>
              <a:buNone/>
            </a:pPr>
            <a:r>
              <a:rPr lang="ar-SA" altLang="en-US" sz="1850" b="1" dirty="0">
                <a:solidFill>
                  <a:srgbClr val="101014"/>
                </a:solidFill>
                <a:latin typeface="Playfair Display Bold" pitchFamily="34" charset="0"/>
                <a:ea typeface="Playfair Display Bold" pitchFamily="34" charset="-122"/>
                <a:cs typeface="Playfair Display Bold" pitchFamily="34" charset="-120"/>
              </a:rPr>
              <a:t>كيف بنينا بلّغنا؟</a:t>
            </a:r>
            <a:endParaRPr lang="ar-SA" sz="1850" dirty="0"/>
          </a:p>
        </p:txBody>
      </p:sp>
      <p:pic>
        <p:nvPicPr>
          <p:cNvPr id="5" name="Image 0" descr="preencoded.png">    </p:cNvPr>
          <p:cNvPicPr>
            <a:picLocks noChangeAspect="1"/>
          </p:cNvPicPr>
          <p:nvPr/>
        </p:nvPicPr>
        <p:blipFill>
          <a:blip r:embed="rId1"/>
          <a:stretch>
            <a:fillRect/>
          </a:stretch>
        </p:blipFill>
        <p:spPr>
          <a:xfrm>
            <a:off x="661475" y="1101328"/>
            <a:ext cx="5319083" cy="5319216"/>
          </a:xfrm>
          <a:prstGeom prst="rect">
            <a:avLst/>
          </a:prstGeom>
        </p:spPr>
      </p:pic>
      <p:sp>
        <p:nvSpPr>
          <p:cNvPr id="6" name="Text 3"/>
          <p:cNvSpPr/>
          <p:nvPr/>
        </p:nvSpPr>
        <p:spPr>
          <a:xfrm>
            <a:off x="6217487" y="2743498"/>
            <a:ext cx="5319083" cy="147638"/>
          </a:xfrm>
          <a:prstGeom prst="rect">
            <a:avLst/>
          </a:prstGeom>
          <a:noFill/>
          <a:ln/>
        </p:spPr>
        <p:txBody>
          <a:bodyPr wrap="none" lIns="0" tIns="0" rIns="0" bIns="0" rtlCol="0" anchor="t"/>
          <a:lstStyle/>
          <a:p>
            <a:pPr algn="l" indent="0" marL="0">
              <a:lnSpc>
                <a:spcPct val="104000"/>
              </a:lnSpc>
              <a:buNone/>
            </a:pPr>
            <a:r>
              <a:rPr lang="en-US" sz="900" b="1" dirty="0">
                <a:solidFill>
                  <a:srgbClr val="101014"/>
                </a:solidFill>
                <a:latin typeface="Playfair Display Bold" pitchFamily="34" charset="0"/>
                <a:ea typeface="Playfair Display Bold" pitchFamily="34" charset="-122"/>
                <a:cs typeface="Playfair Display Bold" pitchFamily="34" charset="-120"/>
              </a:rPr>
              <a:t>Backend</a:t>
            </a:r>
            <a:endParaRPr lang="en-US" sz="900" dirty="0"/>
          </a:p>
        </p:txBody>
      </p:sp>
      <p:sp>
        <p:nvSpPr>
          <p:cNvPr id="7" name="Text 4"/>
          <p:cNvSpPr/>
          <p:nvPr/>
        </p:nvSpPr>
        <p:spPr>
          <a:xfrm>
            <a:off x="6217487" y="2938363"/>
            <a:ext cx="5928668" cy="113407"/>
          </a:xfrm>
          <a:prstGeom prst="rect">
            <a:avLst/>
          </a:prstGeom>
          <a:noFill/>
          <a:ln/>
        </p:spPr>
        <p:txBody>
          <a:bodyPr wrap="none" lIns="0" tIns="0" rIns="0" bIns="0" rtlCol="0" anchor="t"/>
          <a:lstStyle/>
          <a:p>
            <a:pPr algn="l" indent="0" marL="0">
              <a:lnSpc>
                <a:spcPct val="100000"/>
              </a:lnSpc>
              <a:buNone/>
            </a:pPr>
            <a:r>
              <a:rPr lang="en-US" sz="700" dirty="0">
                <a:solidFill>
                  <a:srgbClr val="39393C"/>
                </a:solidFill>
                <a:latin typeface="Open Sans" pitchFamily="34" charset="0"/>
                <a:ea typeface="Open Sans" pitchFamily="34" charset="-122"/>
                <a:cs typeface="Open Sans" pitchFamily="34" charset="-120"/>
              </a:rPr>
              <a:t>Python · FastAPI · SQLAlchemy · Pydantic · Jinja2 · Uvicorn · HTTPX</a:t>
            </a:r>
            <a:endParaRPr lang="en-US" sz="700" dirty="0"/>
          </a:p>
        </p:txBody>
      </p:sp>
      <p:sp>
        <p:nvSpPr>
          <p:cNvPr id="8" name="Text 5"/>
          <p:cNvSpPr/>
          <p:nvPr/>
        </p:nvSpPr>
        <p:spPr>
          <a:xfrm>
            <a:off x="6217487" y="3098998"/>
            <a:ext cx="5319083" cy="147638"/>
          </a:xfrm>
          <a:prstGeom prst="rect">
            <a:avLst/>
          </a:prstGeom>
          <a:noFill/>
          <a:ln/>
        </p:spPr>
        <p:txBody>
          <a:bodyPr wrap="none" lIns="0" tIns="0" rIns="0" bIns="0" rtlCol="0" anchor="t"/>
          <a:lstStyle/>
          <a:p>
            <a:pPr rtl="1" algn="r" indent="0" marL="0">
              <a:lnSpc>
                <a:spcPct val="104000"/>
              </a:lnSpc>
              <a:buNone/>
            </a:pPr>
            <a:r>
              <a:rPr lang="ar-SA" altLang="en-US" sz="900" b="1" dirty="0">
                <a:solidFill>
                  <a:srgbClr val="101014"/>
                </a:solidFill>
                <a:latin typeface="Playfair Display Bold" pitchFamily="34" charset="0"/>
                <a:ea typeface="Playfair Display Bold" pitchFamily="34" charset="-122"/>
                <a:cs typeface="Playfair Display Bold" pitchFamily="34" charset="-120"/>
              </a:rPr>
              <a:t>قاعدة البيانات</a:t>
            </a:r>
            <a:endParaRPr lang="ar-SA" sz="900" dirty="0"/>
          </a:p>
        </p:txBody>
      </p:sp>
      <p:sp>
        <p:nvSpPr>
          <p:cNvPr id="9" name="Text 6"/>
          <p:cNvSpPr/>
          <p:nvPr/>
        </p:nvSpPr>
        <p:spPr>
          <a:xfrm>
            <a:off x="6217487" y="3293864"/>
            <a:ext cx="5928668" cy="113407"/>
          </a:xfrm>
          <a:prstGeom prst="rect">
            <a:avLst/>
          </a:prstGeom>
          <a:noFill/>
          <a:ln/>
        </p:spPr>
        <p:txBody>
          <a:bodyPr wrap="none" lIns="0" tIns="0" rIns="0" bIns="0" rtlCol="0" anchor="t"/>
          <a:lstStyle/>
          <a:p>
            <a:pPr algn="l" indent="0" marL="0">
              <a:lnSpc>
                <a:spcPct val="100000"/>
              </a:lnSpc>
              <a:buNone/>
            </a:pPr>
            <a:r>
              <a:rPr lang="ar-SA" altLang="en-US" sz="700" dirty="0">
                <a:solidFill>
                  <a:srgbClr val="39393C"/>
                </a:solidFill>
                <a:latin typeface="Open Sans" pitchFamily="34" charset="0"/>
                <a:ea typeface="Open Sans" pitchFamily="34" charset="-122"/>
                <a:cs typeface="Open Sans" pitchFamily="34" charset="-120"/>
              </a:rPr>
              <a:t>SQLite — تصميم علائقي بمفاتيح أساسية وأجنبية وعلاقات One-to-Many</a:t>
            </a:r>
            <a:endParaRPr lang="ar-SA" sz="700" dirty="0"/>
          </a:p>
        </p:txBody>
      </p:sp>
      <p:sp>
        <p:nvSpPr>
          <p:cNvPr id="10" name="Text 7"/>
          <p:cNvSpPr/>
          <p:nvPr/>
        </p:nvSpPr>
        <p:spPr>
          <a:xfrm>
            <a:off x="6217487" y="3454499"/>
            <a:ext cx="5319083" cy="147638"/>
          </a:xfrm>
          <a:prstGeom prst="rect">
            <a:avLst/>
          </a:prstGeom>
          <a:noFill/>
          <a:ln/>
        </p:spPr>
        <p:txBody>
          <a:bodyPr wrap="none" lIns="0" tIns="0" rIns="0" bIns="0" rtlCol="0" anchor="t"/>
          <a:lstStyle/>
          <a:p>
            <a:pPr rtl="1" algn="r" indent="0" marL="0">
              <a:lnSpc>
                <a:spcPct val="104000"/>
              </a:lnSpc>
              <a:buNone/>
            </a:pPr>
            <a:r>
              <a:rPr lang="ar-SA" altLang="en-US" sz="900" b="1" dirty="0">
                <a:solidFill>
                  <a:srgbClr val="101014"/>
                </a:solidFill>
                <a:latin typeface="Playfair Display Bold" pitchFamily="34" charset="0"/>
                <a:ea typeface="Playfair Display Bold" pitchFamily="34" charset="-122"/>
                <a:cs typeface="Playfair Display Bold" pitchFamily="34" charset="-120"/>
              </a:rPr>
              <a:t>الواجهة الأمامية</a:t>
            </a:r>
            <a:endParaRPr lang="ar-SA" sz="900" dirty="0"/>
          </a:p>
        </p:txBody>
      </p:sp>
      <p:sp>
        <p:nvSpPr>
          <p:cNvPr id="11" name="Text 8"/>
          <p:cNvSpPr/>
          <p:nvPr/>
        </p:nvSpPr>
        <p:spPr>
          <a:xfrm>
            <a:off x="6217487" y="3649365"/>
            <a:ext cx="5928668" cy="113407"/>
          </a:xfrm>
          <a:prstGeom prst="rect">
            <a:avLst/>
          </a:prstGeom>
          <a:noFill/>
          <a:ln/>
        </p:spPr>
        <p:txBody>
          <a:bodyPr wrap="none" lIns="0" tIns="0" rIns="0" bIns="0" rtlCol="0" anchor="t"/>
          <a:lstStyle/>
          <a:p>
            <a:pPr algn="l" indent="0" marL="0">
              <a:lnSpc>
                <a:spcPct val="100000"/>
              </a:lnSpc>
              <a:buNone/>
            </a:pPr>
            <a:r>
              <a:rPr lang="en-US" sz="700" dirty="0">
                <a:solidFill>
                  <a:srgbClr val="39393C"/>
                </a:solidFill>
                <a:latin typeface="Open Sans" pitchFamily="34" charset="0"/>
                <a:ea typeface="Open Sans" pitchFamily="34" charset="-122"/>
                <a:cs typeface="Open Sans" pitchFamily="34" charset="-120"/>
              </a:rPr>
              <a:t>HTML · Tailwind CSS · JavaScript · Jinja2</a:t>
            </a:r>
            <a:endParaRPr lang="en-US" sz="700" dirty="0"/>
          </a:p>
        </p:txBody>
      </p:sp>
      <p:sp>
        <p:nvSpPr>
          <p:cNvPr id="12" name="Text 9"/>
          <p:cNvSpPr/>
          <p:nvPr/>
        </p:nvSpPr>
        <p:spPr>
          <a:xfrm>
            <a:off x="6217487" y="3810000"/>
            <a:ext cx="5319083" cy="147638"/>
          </a:xfrm>
          <a:prstGeom prst="rect">
            <a:avLst/>
          </a:prstGeom>
          <a:noFill/>
          <a:ln/>
        </p:spPr>
        <p:txBody>
          <a:bodyPr wrap="none" lIns="0" tIns="0" rIns="0" bIns="0" rtlCol="0" anchor="t"/>
          <a:lstStyle/>
          <a:p>
            <a:pPr rtl="1" algn="r" indent="0" marL="0">
              <a:lnSpc>
                <a:spcPct val="104000"/>
              </a:lnSpc>
              <a:buNone/>
            </a:pPr>
            <a:r>
              <a:rPr lang="ar-SA" altLang="en-US" sz="900" b="1" dirty="0">
                <a:solidFill>
                  <a:srgbClr val="101014"/>
                </a:solidFill>
                <a:latin typeface="Playfair Display Bold" pitchFamily="34" charset="0"/>
                <a:ea typeface="Playfair Display Bold" pitchFamily="34" charset="-122"/>
                <a:cs typeface="Playfair Display Bold" pitchFamily="34" charset="-120"/>
              </a:rPr>
              <a:t>الخرائط والتحليلات</a:t>
            </a:r>
            <a:endParaRPr lang="ar-SA" sz="900" dirty="0"/>
          </a:p>
        </p:txBody>
      </p:sp>
      <p:sp>
        <p:nvSpPr>
          <p:cNvPr id="13" name="Text 10"/>
          <p:cNvSpPr/>
          <p:nvPr/>
        </p:nvSpPr>
        <p:spPr>
          <a:xfrm>
            <a:off x="6217487" y="4004866"/>
            <a:ext cx="5928668" cy="113407"/>
          </a:xfrm>
          <a:prstGeom prst="rect">
            <a:avLst/>
          </a:prstGeom>
          <a:noFill/>
          <a:ln/>
        </p:spPr>
        <p:txBody>
          <a:bodyPr wrap="none" lIns="0" tIns="0" rIns="0" bIns="0" rtlCol="0" anchor="t"/>
          <a:lstStyle/>
          <a:p>
            <a:pPr algn="l" indent="0" marL="0">
              <a:lnSpc>
                <a:spcPct val="100000"/>
              </a:lnSpc>
              <a:buNone/>
            </a:pPr>
            <a:r>
              <a:rPr lang="en-US" sz="700" dirty="0">
                <a:solidFill>
                  <a:srgbClr val="39393C"/>
                </a:solidFill>
                <a:latin typeface="Open Sans" pitchFamily="34" charset="0"/>
                <a:ea typeface="Open Sans" pitchFamily="34" charset="-122"/>
                <a:cs typeface="Open Sans" pitchFamily="34" charset="-120"/>
              </a:rPr>
              <a:t>Leaflet · OpenStreetMap · Chart.js</a:t>
            </a:r>
            <a:endParaRPr lang="en-US" sz="700" dirty="0"/>
          </a:p>
        </p:txBody>
      </p:sp>
      <p:sp>
        <p:nvSpPr>
          <p:cNvPr id="14" name="Text 11"/>
          <p:cNvSpPr/>
          <p:nvPr/>
        </p:nvSpPr>
        <p:spPr>
          <a:xfrm>
            <a:off x="6217487" y="4165501"/>
            <a:ext cx="5319083" cy="147638"/>
          </a:xfrm>
          <a:prstGeom prst="rect">
            <a:avLst/>
          </a:prstGeom>
          <a:noFill/>
          <a:ln/>
        </p:spPr>
        <p:txBody>
          <a:bodyPr wrap="none" lIns="0" tIns="0" rIns="0" bIns="0" rtlCol="0" anchor="t"/>
          <a:lstStyle/>
          <a:p>
            <a:pPr rtl="1" algn="r" indent="0" marL="0">
              <a:lnSpc>
                <a:spcPct val="104000"/>
              </a:lnSpc>
              <a:buNone/>
            </a:pPr>
            <a:r>
              <a:rPr lang="ar-SA" altLang="en-US" sz="900" b="1" dirty="0">
                <a:solidFill>
                  <a:srgbClr val="101014"/>
                </a:solidFill>
                <a:latin typeface="Playfair Display Bold" pitchFamily="34" charset="0"/>
                <a:ea typeface="Playfair Display Bold" pitchFamily="34" charset="-122"/>
                <a:cs typeface="Playfair Display Bold" pitchFamily="34" charset="-120"/>
              </a:rPr>
              <a:t>الذكاء الاصطناعي</a:t>
            </a:r>
            <a:endParaRPr lang="ar-SA" sz="900" dirty="0"/>
          </a:p>
        </p:txBody>
      </p:sp>
      <p:sp>
        <p:nvSpPr>
          <p:cNvPr id="15" name="Text 12"/>
          <p:cNvSpPr/>
          <p:nvPr/>
        </p:nvSpPr>
        <p:spPr>
          <a:xfrm>
            <a:off x="6217487" y="4360366"/>
            <a:ext cx="5928668" cy="113407"/>
          </a:xfrm>
          <a:prstGeom prst="rect">
            <a:avLst/>
          </a:prstGeom>
          <a:noFill/>
          <a:ln/>
        </p:spPr>
        <p:txBody>
          <a:bodyPr wrap="none" lIns="0" tIns="0" rIns="0" bIns="0" rtlCol="0" anchor="t"/>
          <a:lstStyle/>
          <a:p>
            <a:pPr algn="l" indent="0" marL="0">
              <a:lnSpc>
                <a:spcPct val="100000"/>
              </a:lnSpc>
              <a:buNone/>
            </a:pPr>
            <a:r>
              <a:rPr lang="en-US" sz="700" dirty="0">
                <a:solidFill>
                  <a:srgbClr val="39393C"/>
                </a:solidFill>
                <a:latin typeface="Open Sans" pitchFamily="34" charset="0"/>
                <a:ea typeface="Open Sans" pitchFamily="34" charset="-122"/>
                <a:cs typeface="Open Sans" pitchFamily="34" charset="-120"/>
              </a:rPr>
              <a:t>Qwen3 4B · Ollama · Rule-Based Fallback</a:t>
            </a:r>
            <a:endParaRPr lang="en-US" sz="700" dirty="0"/>
          </a:p>
        </p:txBody>
      </p:sp>
      <p:sp>
        <p:nvSpPr>
          <p:cNvPr id="16" name="Shape 13"/>
          <p:cNvSpPr/>
          <p:nvPr/>
        </p:nvSpPr>
        <p:spPr>
          <a:xfrm>
            <a:off x="6217487" y="4526855"/>
            <a:ext cx="5319083" cy="245566"/>
          </a:xfrm>
          <a:prstGeom prst="roundRect">
            <a:avLst>
              <a:gd name="adj" fmla="val 5773"/>
            </a:avLst>
          </a:prstGeom>
          <a:solidFill>
            <a:srgbClr val="E3E3E8"/>
          </a:solidFill>
          <a:ln/>
        </p:spPr>
      </p:sp>
      <p:pic>
        <p:nvPicPr>
          <p:cNvPr id="17" name="Image 1" descr="preencoded.png">    </p:cNvPr>
          <p:cNvPicPr>
            <a:picLocks noChangeAspect="1"/>
          </p:cNvPicPr>
          <p:nvPr/>
        </p:nvPicPr>
        <p:blipFill>
          <a:blip r:embed="rId2"/>
          <a:stretch>
            <a:fillRect/>
          </a:stretch>
        </p:blipFill>
        <p:spPr>
          <a:xfrm>
            <a:off x="6311941" y="4603948"/>
            <a:ext cx="118067" cy="94456"/>
          </a:xfrm>
          <a:prstGeom prst="rect">
            <a:avLst/>
          </a:prstGeom>
        </p:spPr>
      </p:pic>
      <p:sp>
        <p:nvSpPr>
          <p:cNvPr id="18" name="Text 14"/>
          <p:cNvSpPr/>
          <p:nvPr/>
        </p:nvSpPr>
        <p:spPr>
          <a:xfrm>
            <a:off x="6524462" y="4592935"/>
            <a:ext cx="5527239" cy="113407"/>
          </a:xfrm>
          <a:prstGeom prst="rect">
            <a:avLst/>
          </a:prstGeom>
          <a:noFill/>
          <a:ln/>
        </p:spPr>
        <p:txBody>
          <a:bodyPr wrap="none" lIns="0" tIns="0" rIns="0" bIns="0" rtlCol="0" anchor="t"/>
          <a:lstStyle/>
          <a:p>
            <a:pPr algn="l" indent="0" marL="0">
              <a:lnSpc>
                <a:spcPct val="100000"/>
              </a:lnSpc>
              <a:buNone/>
            </a:pPr>
            <a:r>
              <a:rPr lang="ar-SA" altLang="en-US" sz="700" dirty="0">
                <a:solidFill>
                  <a:srgbClr val="000000"/>
                </a:solidFill>
                <a:latin typeface="Open Sans" pitchFamily="34" charset="0"/>
                <a:ea typeface="Open Sans" pitchFamily="34" charset="-122"/>
                <a:cs typeface="Open Sans" pitchFamily="34" charset="-120"/>
              </a:rPr>
              <a:t>Local-first architecture — بدون اعتماد أساسي على خدمات AI مدفوعة.</a:t>
            </a:r>
            <a:endParaRPr lang="ar-SA"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E0E0EC"/>
          </a:solidFill>
          <a:ln/>
        </p:spPr>
      </p:sp>
      <p:pic>
        <p:nvPicPr>
          <p:cNvPr id="3" name="Image 0" descr="preencoded.png">    </p:cNvPr>
          <p:cNvPicPr>
            <a:picLocks noChangeAspect="1"/>
          </p:cNvPicPr>
          <p:nvPr/>
        </p:nvPicPr>
        <p:blipFill>
          <a:blip r:embed="rId1"/>
          <a:stretch>
            <a:fillRect/>
          </a:stretch>
        </p:blipFill>
        <p:spPr>
          <a:xfrm>
            <a:off x="76694" y="483295"/>
            <a:ext cx="4418398" cy="5891411"/>
          </a:xfrm>
          <a:prstGeom prst="rect">
            <a:avLst/>
          </a:prstGeom>
        </p:spPr>
      </p:pic>
      <p:sp>
        <p:nvSpPr>
          <p:cNvPr id="4" name="Shape 1"/>
          <p:cNvSpPr/>
          <p:nvPr/>
        </p:nvSpPr>
        <p:spPr>
          <a:xfrm>
            <a:off x="10444497" y="552351"/>
            <a:ext cx="1085724" cy="233263"/>
          </a:xfrm>
          <a:prstGeom prst="roundRect">
            <a:avLst>
              <a:gd name="adj" fmla="val 7901"/>
            </a:avLst>
          </a:prstGeom>
          <a:noFill/>
          <a:ln w="6350">
            <a:solidFill>
              <a:srgbClr val="101014"/>
            </a:solidFill>
            <a:prstDash val="solid"/>
          </a:ln>
        </p:spPr>
      </p:sp>
      <p:sp>
        <p:nvSpPr>
          <p:cNvPr id="5" name="Text 2"/>
          <p:cNvSpPr/>
          <p:nvPr/>
        </p:nvSpPr>
        <p:spPr>
          <a:xfrm>
            <a:off x="9926984" y="598388"/>
            <a:ext cx="1511163" cy="141188"/>
          </a:xfrm>
          <a:prstGeom prst="rect">
            <a:avLst/>
          </a:prstGeom>
          <a:noFill/>
          <a:ln/>
        </p:spPr>
        <p:txBody>
          <a:bodyPr wrap="none" lIns="0" tIns="0" rIns="0" bIns="0" rtlCol="0" anchor="t"/>
          <a:lstStyle/>
          <a:p>
            <a:pPr rtl="1" algn="r" indent="0" marL="0">
              <a:lnSpc>
                <a:spcPct val="96000"/>
              </a:lnSpc>
              <a:buNone/>
            </a:pPr>
            <a:r>
              <a:rPr lang="ar-SA" altLang="en-US" sz="950" dirty="0">
                <a:solidFill>
                  <a:srgbClr val="101014"/>
                </a:solidFill>
                <a:latin typeface="Open Sans" pitchFamily="34" charset="0"/>
                <a:ea typeface="Open Sans" pitchFamily="34" charset="-122"/>
                <a:cs typeface="Open Sans" pitchFamily="34" charset="-120"/>
              </a:rPr>
              <a:t>الأمان والخصوصية</a:t>
            </a:r>
            <a:endParaRPr lang="ar-SA" sz="950" dirty="0"/>
          </a:p>
        </p:txBody>
      </p:sp>
      <p:sp>
        <p:nvSpPr>
          <p:cNvPr id="6" name="Text 3"/>
          <p:cNvSpPr/>
          <p:nvPr/>
        </p:nvSpPr>
        <p:spPr>
          <a:xfrm>
            <a:off x="5233360" y="835521"/>
            <a:ext cx="6296860" cy="479921"/>
          </a:xfrm>
          <a:prstGeom prst="rect">
            <a:avLst/>
          </a:prstGeom>
          <a:noFill/>
          <a:ln/>
        </p:spPr>
        <p:txBody>
          <a:bodyPr wrap="none" lIns="0" tIns="0" rIns="0" bIns="0" rtlCol="0" anchor="t"/>
          <a:lstStyle/>
          <a:p>
            <a:pPr rtl="1" algn="r" indent="0" marL="0">
              <a:lnSpc>
                <a:spcPct val="104000"/>
              </a:lnSpc>
              <a:buNone/>
            </a:pPr>
            <a:r>
              <a:rPr lang="ar-SA" altLang="en-US" sz="3000" b="1" dirty="0">
                <a:solidFill>
                  <a:srgbClr val="101014"/>
                </a:solidFill>
                <a:latin typeface="Playfair Display Bold" pitchFamily="34" charset="0"/>
                <a:ea typeface="Playfair Display Bold" pitchFamily="34" charset="-122"/>
                <a:cs typeface="Playfair Display Bold" pitchFamily="34" charset="-120"/>
              </a:rPr>
              <a:t>الثقة والأمان</a:t>
            </a:r>
            <a:endParaRPr lang="ar-SA" sz="300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502569"/>
            <a:ext cx="6296860" cy="882452"/>
          </a:xfrm>
          <a:prstGeom prst="rect">
            <a:avLst/>
          </a:prstGeom>
        </p:spPr>
      </p:pic>
      <p:sp>
        <p:nvSpPr>
          <p:cNvPr id="8" name="Text 4"/>
          <p:cNvSpPr/>
          <p:nvPr/>
        </p:nvSpPr>
        <p:spPr>
          <a:xfrm>
            <a:off x="5405898" y="1675110"/>
            <a:ext cx="5875587" cy="239911"/>
          </a:xfrm>
          <a:prstGeom prst="rect">
            <a:avLst/>
          </a:prstGeom>
          <a:noFill/>
          <a:ln/>
        </p:spPr>
        <p:txBody>
          <a:bodyPr wrap="none" lIns="0" tIns="0" rIns="0" bIns="0" rtlCol="0" anchor="t"/>
          <a:lstStyle/>
          <a:p>
            <a:pPr rtl="1" algn="r" indent="0" marL="0">
              <a:lnSpc>
                <a:spcPct val="104000"/>
              </a:lnSpc>
              <a:buNone/>
            </a:pPr>
            <a:r>
              <a:rPr lang="ar-SA" altLang="en-US" sz="1500" b="1" dirty="0">
                <a:solidFill>
                  <a:srgbClr val="39393C"/>
                </a:solidFill>
                <a:latin typeface="Playfair Display Bold" pitchFamily="34" charset="0"/>
                <a:ea typeface="Playfair Display Bold" pitchFamily="34" charset="-122"/>
                <a:cs typeface="Playfair Display Bold" pitchFamily="34" charset="-120"/>
              </a:rPr>
              <a:t>هوية المواطن</a:t>
            </a:r>
            <a:endParaRPr lang="ar-SA" sz="1500" dirty="0"/>
          </a:p>
        </p:txBody>
      </p:sp>
      <p:sp>
        <p:nvSpPr>
          <p:cNvPr id="9" name="Text 5"/>
          <p:cNvSpPr/>
          <p:nvPr/>
        </p:nvSpPr>
        <p:spPr>
          <a:xfrm>
            <a:off x="5405898" y="1989832"/>
            <a:ext cx="5875587" cy="222647"/>
          </a:xfrm>
          <a:prstGeom prst="rect">
            <a:avLst/>
          </a:prstGeom>
          <a:noFill/>
          <a:ln/>
        </p:spPr>
        <p:txBody>
          <a:bodyPr wrap="none" lIns="0" tIns="0" rIns="0" bIns="0" rtlCol="0" anchor="t"/>
          <a:lstStyle/>
          <a:p>
            <a:pPr rtl="1" algn="r" indent="0" marL="0">
              <a:lnSpc>
                <a:spcPct val="121000"/>
              </a:lnSpc>
              <a:buNone/>
            </a:pPr>
            <a:r>
              <a:rPr lang="ar-SA" altLang="en-US" sz="1200" dirty="0">
                <a:solidFill>
                  <a:srgbClr val="39393C"/>
                </a:solidFill>
                <a:latin typeface="Open Sans" pitchFamily="34" charset="0"/>
                <a:ea typeface="Open Sans" pitchFamily="34" charset="-122"/>
                <a:cs typeface="Open Sans" pitchFamily="34" charset="-120"/>
              </a:rPr>
              <a:t>يُطلب </a:t>
            </a:r>
            <a:pPr rtl="1" algn="r" indent="0" marL="0">
              <a:lnSpc>
                <a:spcPct val="121000"/>
              </a:lnSpc>
              <a:buNone/>
            </a:pPr>
            <a:r>
              <a:rPr lang="ar-SA" altLang="en-US" sz="1200" b="1" dirty="0">
                <a:solidFill>
                  <a:srgbClr val="39393C"/>
                </a:solidFill>
                <a:latin typeface="Open Sans Bold" pitchFamily="34" charset="0"/>
                <a:ea typeface="Open Sans Bold" pitchFamily="34" charset="-122"/>
                <a:cs typeface="Open Sans Bold" pitchFamily="34" charset="-120"/>
              </a:rPr>
              <a:t>الرقم الوطني</a:t>
            </a:r>
            <a:pPr rtl="1" algn="r" indent="0" marL="0">
              <a:lnSpc>
                <a:spcPct val="121000"/>
              </a:lnSpc>
              <a:buNone/>
            </a:pPr>
            <a:r>
              <a:rPr lang="ar-SA" altLang="en-US" sz="1200" dirty="0">
                <a:solidFill>
                  <a:srgbClr val="39393C"/>
                </a:solidFill>
                <a:latin typeface="Open Sans" pitchFamily="34" charset="0"/>
                <a:ea typeface="Open Sans" pitchFamily="34" charset="-122"/>
                <a:cs typeface="Open Sans" pitchFamily="34" charset="-120"/>
              </a:rPr>
              <a:t> عند إنشاء الحساب لتقليل البلاغات والحسابات الوهمية.</a:t>
            </a:r>
            <a:endParaRPr lang="ar-SA" sz="1200" dirty="0"/>
          </a:p>
        </p:txBody>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2509738"/>
            <a:ext cx="6296860" cy="882452"/>
          </a:xfrm>
          <a:prstGeom prst="rect">
            <a:avLst/>
          </a:prstGeom>
        </p:spPr>
      </p:pic>
      <p:sp>
        <p:nvSpPr>
          <p:cNvPr id="11" name="Text 6"/>
          <p:cNvSpPr/>
          <p:nvPr/>
        </p:nvSpPr>
        <p:spPr>
          <a:xfrm>
            <a:off x="5405898" y="2682280"/>
            <a:ext cx="5875587" cy="239911"/>
          </a:xfrm>
          <a:prstGeom prst="rect">
            <a:avLst/>
          </a:prstGeom>
          <a:noFill/>
          <a:ln/>
        </p:spPr>
        <p:txBody>
          <a:bodyPr wrap="none" lIns="0" tIns="0" rIns="0" bIns="0" rtlCol="0" anchor="t"/>
          <a:lstStyle/>
          <a:p>
            <a:pPr rtl="1" algn="r" indent="0" marL="0">
              <a:lnSpc>
                <a:spcPct val="104000"/>
              </a:lnSpc>
              <a:buNone/>
            </a:pPr>
            <a:r>
              <a:rPr lang="ar-SA" altLang="en-US" sz="1500" b="1" dirty="0">
                <a:solidFill>
                  <a:srgbClr val="39393C"/>
                </a:solidFill>
                <a:latin typeface="Playfair Display Bold" pitchFamily="34" charset="0"/>
                <a:ea typeface="Playfair Display Bold" pitchFamily="34" charset="-122"/>
                <a:cs typeface="Playfair Display Bold" pitchFamily="34" charset="-120"/>
              </a:rPr>
              <a:t>خصوصية الرقم الوطني</a:t>
            </a:r>
            <a:endParaRPr lang="ar-SA" sz="1500" dirty="0"/>
          </a:p>
        </p:txBody>
      </p:sp>
      <p:sp>
        <p:nvSpPr>
          <p:cNvPr id="12" name="Text 7"/>
          <p:cNvSpPr/>
          <p:nvPr/>
        </p:nvSpPr>
        <p:spPr>
          <a:xfrm>
            <a:off x="5405898" y="2997002"/>
            <a:ext cx="5875587" cy="222647"/>
          </a:xfrm>
          <a:prstGeom prst="rect">
            <a:avLst/>
          </a:prstGeom>
          <a:noFill/>
          <a:ln/>
        </p:spPr>
        <p:txBody>
          <a:bodyPr wrap="none" lIns="0" tIns="0" rIns="0" bIns="0" rtlCol="0" anchor="t"/>
          <a:lstStyle/>
          <a:p>
            <a:pPr rtl="1" algn="r" indent="0" marL="0">
              <a:lnSpc>
                <a:spcPct val="121000"/>
              </a:lnSpc>
              <a:buNone/>
            </a:pPr>
            <a:r>
              <a:rPr lang="ar-SA" altLang="en-US" sz="1200" dirty="0">
                <a:solidFill>
                  <a:srgbClr val="39393C"/>
                </a:solidFill>
                <a:latin typeface="Open Sans" pitchFamily="34" charset="0"/>
                <a:ea typeface="Open Sans" pitchFamily="34" charset="-122"/>
                <a:cs typeface="Open Sans" pitchFamily="34" charset="-120"/>
              </a:rPr>
              <a:t>لا يظهر للمديريات أو الموظفين أو المواطنين — يظهر للوزارة فقط حسب الصلاحيات.</a:t>
            </a:r>
            <a:endParaRPr lang="ar-SA" sz="1200" dirty="0"/>
          </a:p>
        </p:txBody>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3516908"/>
            <a:ext cx="6296860" cy="882452"/>
          </a:xfrm>
          <a:prstGeom prst="rect">
            <a:avLst/>
          </a:prstGeom>
        </p:spPr>
      </p:pic>
      <p:sp>
        <p:nvSpPr>
          <p:cNvPr id="14" name="Text 8"/>
          <p:cNvSpPr/>
          <p:nvPr/>
        </p:nvSpPr>
        <p:spPr>
          <a:xfrm>
            <a:off x="5405898" y="3689449"/>
            <a:ext cx="5875587" cy="239911"/>
          </a:xfrm>
          <a:prstGeom prst="rect">
            <a:avLst/>
          </a:prstGeom>
          <a:noFill/>
          <a:ln/>
        </p:spPr>
        <p:txBody>
          <a:bodyPr wrap="none" lIns="0" tIns="0" rIns="0" bIns="0" rtlCol="0" anchor="t"/>
          <a:lstStyle/>
          <a:p>
            <a:pPr rtl="1" algn="r" indent="0" marL="0">
              <a:lnSpc>
                <a:spcPct val="104000"/>
              </a:lnSpc>
              <a:buNone/>
            </a:pPr>
            <a:r>
              <a:rPr lang="ar-SA" altLang="en-US" sz="1500" b="1" dirty="0">
                <a:solidFill>
                  <a:srgbClr val="39393C"/>
                </a:solidFill>
                <a:latin typeface="Playfair Display Bold" pitchFamily="34" charset="0"/>
                <a:ea typeface="Playfair Display Bold" pitchFamily="34" charset="-122"/>
                <a:cs typeface="Playfair Display Bold" pitchFamily="34" charset="-120"/>
              </a:rPr>
              <a:t>حماية كلمات المرور</a:t>
            </a:r>
            <a:endParaRPr lang="ar-SA" sz="1500" dirty="0"/>
          </a:p>
        </p:txBody>
      </p:sp>
      <p:sp>
        <p:nvSpPr>
          <p:cNvPr id="15" name="Text 9"/>
          <p:cNvSpPr/>
          <p:nvPr/>
        </p:nvSpPr>
        <p:spPr>
          <a:xfrm>
            <a:off x="5405898" y="4004171"/>
            <a:ext cx="5875587" cy="222647"/>
          </a:xfrm>
          <a:prstGeom prst="rect">
            <a:avLst/>
          </a:prstGeom>
          <a:noFill/>
          <a:ln/>
        </p:spPr>
        <p:txBody>
          <a:bodyPr wrap="none" lIns="0" tIns="0" rIns="0" bIns="0" rtlCol="0" anchor="t"/>
          <a:lstStyle/>
          <a:p>
            <a:pPr rtl="1" algn="r" indent="0" marL="0">
              <a:lnSpc>
                <a:spcPct val="121000"/>
              </a:lnSpc>
              <a:buNone/>
            </a:pPr>
            <a:r>
              <a:rPr lang="ar-SA" altLang="en-US" sz="1200" dirty="0">
                <a:solidFill>
                  <a:srgbClr val="39393C"/>
                </a:solidFill>
                <a:latin typeface="Open Sans" pitchFamily="34" charset="0"/>
                <a:ea typeface="Open Sans" pitchFamily="34" charset="-122"/>
                <a:cs typeface="Open Sans" pitchFamily="34" charset="-120"/>
              </a:rPr>
              <a:t>تُخزَّن بكلمات مرور مُشفّرة بتقنية Secure Hashing.</a:t>
            </a:r>
            <a:endParaRPr lang="ar-SA" sz="120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4524077"/>
            <a:ext cx="6296860" cy="882452"/>
          </a:xfrm>
          <a:prstGeom prst="rect">
            <a:avLst/>
          </a:prstGeom>
        </p:spPr>
      </p:pic>
      <p:sp>
        <p:nvSpPr>
          <p:cNvPr id="17" name="Text 10"/>
          <p:cNvSpPr/>
          <p:nvPr/>
        </p:nvSpPr>
        <p:spPr>
          <a:xfrm>
            <a:off x="5405898" y="4696619"/>
            <a:ext cx="5875587" cy="239911"/>
          </a:xfrm>
          <a:prstGeom prst="rect">
            <a:avLst/>
          </a:prstGeom>
          <a:noFill/>
          <a:ln/>
        </p:spPr>
        <p:txBody>
          <a:bodyPr wrap="none" lIns="0" tIns="0" rIns="0" bIns="0" rtlCol="0" anchor="t"/>
          <a:lstStyle/>
          <a:p>
            <a:pPr rtl="1" algn="r" indent="0" marL="0">
              <a:lnSpc>
                <a:spcPct val="104000"/>
              </a:lnSpc>
              <a:buNone/>
            </a:pPr>
            <a:r>
              <a:rPr lang="ar-SA" altLang="en-US" sz="1500" b="1" dirty="0">
                <a:solidFill>
                  <a:srgbClr val="39393C"/>
                </a:solidFill>
                <a:latin typeface="Playfair Display Bold" pitchFamily="34" charset="0"/>
                <a:ea typeface="Playfair Display Bold" pitchFamily="34" charset="-122"/>
                <a:cs typeface="Playfair Display Bold" pitchFamily="34" charset="-120"/>
              </a:rPr>
              <a:t>عزل الصلاحيات</a:t>
            </a:r>
            <a:endParaRPr lang="ar-SA" sz="1500" dirty="0"/>
          </a:p>
        </p:txBody>
      </p:sp>
      <p:sp>
        <p:nvSpPr>
          <p:cNvPr id="18" name="Text 11"/>
          <p:cNvSpPr/>
          <p:nvPr/>
        </p:nvSpPr>
        <p:spPr>
          <a:xfrm>
            <a:off x="5405898" y="5011341"/>
            <a:ext cx="5875587" cy="222647"/>
          </a:xfrm>
          <a:prstGeom prst="rect">
            <a:avLst/>
          </a:prstGeom>
          <a:noFill/>
          <a:ln/>
        </p:spPr>
        <p:txBody>
          <a:bodyPr wrap="none" lIns="0" tIns="0" rIns="0" bIns="0" rtlCol="0" anchor="t"/>
          <a:lstStyle/>
          <a:p>
            <a:pPr rtl="1" algn="r" indent="0" marL="0">
              <a:lnSpc>
                <a:spcPct val="121000"/>
              </a:lnSpc>
              <a:buNone/>
            </a:pPr>
            <a:r>
              <a:rPr lang="ar-SA" altLang="en-US" sz="1200" dirty="0">
                <a:solidFill>
                  <a:srgbClr val="39393C"/>
                </a:solidFill>
                <a:latin typeface="Open Sans" pitchFamily="34" charset="0"/>
                <a:ea typeface="Open Sans" pitchFamily="34" charset="-122"/>
                <a:cs typeface="Open Sans" pitchFamily="34" charset="-120"/>
              </a:rPr>
              <a:t>الوزارة ← جميع البلاغات · المديرية ← بلاغاتها · الموظف ← مهامه · المواطن ← بلاغاته</a:t>
            </a:r>
            <a:endParaRPr lang="ar-SA" sz="1200" dirty="0"/>
          </a:p>
        </p:txBody>
      </p:sp>
      <p:sp>
        <p:nvSpPr>
          <p:cNvPr id="19" name="Shape 12"/>
          <p:cNvSpPr/>
          <p:nvPr/>
        </p:nvSpPr>
        <p:spPr>
          <a:xfrm>
            <a:off x="5233360" y="5546824"/>
            <a:ext cx="6296860" cy="758825"/>
          </a:xfrm>
          <a:prstGeom prst="roundRect">
            <a:avLst>
              <a:gd name="adj" fmla="val 3036"/>
            </a:avLst>
          </a:prstGeom>
          <a:solidFill>
            <a:srgbClr val="E3E3E8"/>
          </a:solidFill>
          <a:ln/>
        </p:spPr>
      </p:sp>
      <p:pic>
        <p:nvPicPr>
          <p:cNvPr id="20" name="Image 5" descr="preencoded.png">    </p:cNvPr>
          <p:cNvPicPr>
            <a:picLocks noChangeAspect="1"/>
          </p:cNvPicPr>
          <p:nvPr/>
        </p:nvPicPr>
        <p:blipFill>
          <a:blip r:embed="rId10"/>
          <a:stretch>
            <a:fillRect/>
          </a:stretch>
        </p:blipFill>
        <p:spPr>
          <a:xfrm>
            <a:off x="5386848" y="5727898"/>
            <a:ext cx="191884" cy="153491"/>
          </a:xfrm>
          <a:prstGeom prst="rect">
            <a:avLst/>
          </a:prstGeom>
        </p:spPr>
      </p:pic>
      <p:sp>
        <p:nvSpPr>
          <p:cNvPr id="21" name="Text 13"/>
          <p:cNvSpPr/>
          <p:nvPr/>
        </p:nvSpPr>
        <p:spPr>
          <a:xfrm>
            <a:off x="5732220" y="5709841"/>
            <a:ext cx="5644513" cy="445294"/>
          </a:xfrm>
          <a:prstGeom prst="rect">
            <a:avLst/>
          </a:prstGeom>
          <a:noFill/>
          <a:ln/>
        </p:spPr>
        <p:txBody>
          <a:bodyPr wrap="square" lIns="0" tIns="0" rIns="0" bIns="0" rtlCol="0" anchor="t">
            <a:normAutofit/>
          </a:bodyPr>
          <a:lstStyle/>
          <a:p>
            <a:pPr rtl="1" algn="r" indent="0" marL="0">
              <a:lnSpc>
                <a:spcPct val="121000"/>
              </a:lnSpc>
              <a:buNone/>
            </a:pPr>
            <a:r>
              <a:rPr lang="ar-SA" altLang="en-US" sz="1200" dirty="0">
                <a:solidFill>
                  <a:srgbClr val="000000"/>
                </a:solidFill>
                <a:latin typeface="Open Sans" pitchFamily="34" charset="0"/>
                <a:ea typeface="Open Sans" pitchFamily="34" charset="-122"/>
                <a:cs typeface="Open Sans" pitchFamily="34" charset="-120"/>
              </a:rPr>
              <a:t>لا يُرسل الرقم الوطني أو كلمات المرور إلى نموذج الذكاء الاصطناعي. نموذج AI يعمل محلياً عبر Ollama في بيئة المشروع.</a:t>
            </a:r>
            <a:endParaRPr lang="ar-SA"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11088609" y="519807"/>
            <a:ext cx="441612" cy="143470"/>
          </a:xfrm>
          <a:prstGeom prst="roundRect">
            <a:avLst>
              <a:gd name="adj" fmla="val 7905"/>
            </a:avLst>
          </a:prstGeom>
          <a:solidFill>
            <a:srgbClr val="E3E3E8"/>
          </a:solidFill>
          <a:ln/>
        </p:spPr>
      </p:sp>
      <p:sp>
        <p:nvSpPr>
          <p:cNvPr id="3" name="Text 1"/>
          <p:cNvSpPr/>
          <p:nvPr/>
        </p:nvSpPr>
        <p:spPr>
          <a:xfrm>
            <a:off x="10535676" y="548084"/>
            <a:ext cx="937891" cy="86916"/>
          </a:xfrm>
          <a:prstGeom prst="rect">
            <a:avLst/>
          </a:prstGeom>
          <a:noFill/>
          <a:ln/>
        </p:spPr>
        <p:txBody>
          <a:bodyPr wrap="none" lIns="0" tIns="0" rIns="0" bIns="0" rtlCol="0" anchor="t"/>
          <a:lstStyle/>
          <a:p>
            <a:pPr rtl="1" algn="r" indent="0" marL="0">
              <a:lnSpc>
                <a:spcPct val="96000"/>
              </a:lnSpc>
              <a:buNone/>
            </a:pPr>
            <a:r>
              <a:rPr lang="ar-SA" altLang="en-US" sz="550" dirty="0">
                <a:solidFill>
                  <a:srgbClr val="39393C"/>
                </a:solidFill>
                <a:latin typeface="Open Sans" pitchFamily="34" charset="0"/>
                <a:ea typeface="Open Sans" pitchFamily="34" charset="-122"/>
                <a:cs typeface="Open Sans" pitchFamily="34" charset="-120"/>
              </a:rPr>
              <a:t>الأثر والرؤية</a:t>
            </a:r>
            <a:endParaRPr lang="ar-SA" sz="550" dirty="0"/>
          </a:p>
        </p:txBody>
      </p:sp>
      <p:sp>
        <p:nvSpPr>
          <p:cNvPr id="4" name="Text 2"/>
          <p:cNvSpPr/>
          <p:nvPr/>
        </p:nvSpPr>
        <p:spPr>
          <a:xfrm>
            <a:off x="661475" y="682129"/>
            <a:ext cx="10868745" cy="295275"/>
          </a:xfrm>
          <a:prstGeom prst="rect">
            <a:avLst/>
          </a:prstGeom>
          <a:noFill/>
          <a:ln/>
        </p:spPr>
        <p:txBody>
          <a:bodyPr wrap="none" lIns="0" tIns="0" rIns="0" bIns="0" rtlCol="0" anchor="t"/>
          <a:lstStyle/>
          <a:p>
            <a:pPr rtl="1" algn="r" indent="0" marL="0">
              <a:lnSpc>
                <a:spcPct val="104000"/>
              </a:lnSpc>
              <a:buNone/>
            </a:pPr>
            <a:r>
              <a:rPr lang="ar-SA" altLang="en-US" sz="1850" b="1" dirty="0">
                <a:solidFill>
                  <a:srgbClr val="101014"/>
                </a:solidFill>
                <a:latin typeface="Playfair Display Bold" pitchFamily="34" charset="0"/>
                <a:ea typeface="Playfair Display Bold" pitchFamily="34" charset="-122"/>
                <a:cs typeface="Playfair Display Bold" pitchFamily="34" charset="-120"/>
              </a:rPr>
              <a:t>من منصة بلاغات إلى أداة لاتخاذ القرار</a:t>
            </a:r>
            <a:endParaRPr lang="ar-SA" sz="1850" dirty="0"/>
          </a:p>
        </p:txBody>
      </p:sp>
      <p:sp>
        <p:nvSpPr>
          <p:cNvPr id="5" name="Shape 3"/>
          <p:cNvSpPr/>
          <p:nvPr/>
        </p:nvSpPr>
        <p:spPr>
          <a:xfrm>
            <a:off x="593412" y="1048246"/>
            <a:ext cx="5455208" cy="761603"/>
          </a:xfrm>
          <a:prstGeom prst="roundRect">
            <a:avLst>
              <a:gd name="adj" fmla="val 1861"/>
            </a:avLst>
          </a:prstGeom>
          <a:solidFill>
            <a:srgbClr val="002623"/>
          </a:solidFill>
          <a:ln/>
        </p:spPr>
      </p:sp>
      <p:sp>
        <p:nvSpPr>
          <p:cNvPr id="6" name="Text 4"/>
          <p:cNvSpPr/>
          <p:nvPr/>
        </p:nvSpPr>
        <p:spPr>
          <a:xfrm>
            <a:off x="687866" y="1095474"/>
            <a:ext cx="5266300" cy="147638"/>
          </a:xfrm>
          <a:prstGeom prst="rect">
            <a:avLst/>
          </a:prstGeom>
          <a:noFill/>
          <a:ln/>
        </p:spPr>
        <p:txBody>
          <a:bodyPr wrap="none" lIns="0" tIns="0" rIns="0" bIns="0" rtlCol="0" anchor="t"/>
          <a:lstStyle/>
          <a:p>
            <a:pPr rtl="1" algn="r" indent="0" marL="0">
              <a:lnSpc>
                <a:spcPct val="104000"/>
              </a:lnSpc>
              <a:buNone/>
            </a:pPr>
            <a:r>
              <a:rPr lang="ar-SA" altLang="en-US" sz="900" b="1" dirty="0">
                <a:solidFill>
                  <a:srgbClr val="FFFFFF"/>
                </a:solidFill>
                <a:latin typeface="Playfair Display Bold" pitchFamily="34" charset="0"/>
                <a:ea typeface="Playfair Display Bold" pitchFamily="34" charset="-122"/>
                <a:cs typeface="Playfair Display Bold" pitchFamily="34" charset="-120"/>
              </a:rPr>
              <a:t>اليوم</a:t>
            </a:r>
            <a:endParaRPr lang="ar-SA" sz="900" dirty="0"/>
          </a:p>
        </p:txBody>
      </p:sp>
      <p:sp>
        <p:nvSpPr>
          <p:cNvPr id="7" name="Text 5"/>
          <p:cNvSpPr/>
          <p:nvPr/>
        </p:nvSpPr>
        <p:spPr>
          <a:xfrm>
            <a:off x="687866" y="1290340"/>
            <a:ext cx="5266300" cy="503039"/>
          </a:xfrm>
          <a:prstGeom prst="rect">
            <a:avLst/>
          </a:prstGeom>
          <a:noFill/>
          <a:ln/>
        </p:spPr>
        <p:txBody>
          <a:bodyPr wrap="square" lIns="0" tIns="0" rIns="37804" bIns="0" rtlCol="0" anchor="t">
            <a:normAutofit/>
          </a:bodyPr>
          <a:lstStyle/>
          <a:p>
            <a:pPr rtl="1" algn="r" marL="142240" indent="-142240">
              <a:lnSpc>
                <a:spcPct val="100000"/>
              </a:lnSpc>
              <a:buSzPct val="100000"/>
              <a:buChar char="•"/>
            </a:pPr>
            <a:r>
              <a:rPr lang="ar-SA" altLang="en-US" sz="700" dirty="0">
                <a:solidFill>
                  <a:srgbClr val="FFFFFF"/>
                </a:solidFill>
                <a:latin typeface="Open Sans" pitchFamily="34" charset="0"/>
                <a:ea typeface="Open Sans" pitchFamily="34" charset="-122"/>
                <a:cs typeface="Open Sans" pitchFamily="34" charset="-120"/>
              </a:rPr>
              <a:t>توجيه أسرع ومسؤولية واضحة</a:t>
            </a:r>
            <a:endParaRPr lang="ar-SA" sz="700" dirty="0"/>
          </a:p>
          <a:p>
            <a:pPr rtl="1" algn="r" marL="142240" indent="-142240">
              <a:lnSpc>
                <a:spcPct val="100000"/>
              </a:lnSpc>
              <a:buSzPct val="100000"/>
              <a:buChar char="•"/>
            </a:pPr>
            <a:r>
              <a:rPr lang="ar-SA" altLang="en-US" sz="700" dirty="0">
                <a:solidFill>
                  <a:srgbClr val="FFFFFF"/>
                </a:solidFill>
                <a:latin typeface="Open Sans" pitchFamily="34" charset="0"/>
                <a:ea typeface="Open Sans" pitchFamily="34" charset="-122"/>
                <a:cs typeface="Open Sans" pitchFamily="34" charset="-120"/>
              </a:rPr>
              <a:t>متابعة لحظية وتنفيذ ميداني</a:t>
            </a:r>
            <a:endParaRPr lang="ar-SA" sz="700" dirty="0"/>
          </a:p>
          <a:p>
            <a:pPr rtl="1" algn="r" marL="142240" indent="-142240">
              <a:lnSpc>
                <a:spcPct val="100000"/>
              </a:lnSpc>
              <a:buSzPct val="100000"/>
              <a:buChar char="•"/>
            </a:pPr>
            <a:r>
              <a:rPr lang="ar-SA" altLang="en-US" sz="700" dirty="0">
                <a:solidFill>
                  <a:srgbClr val="FFFFFF"/>
                </a:solidFill>
                <a:latin typeface="Open Sans" pitchFamily="34" charset="0"/>
                <a:ea typeface="Open Sans" pitchFamily="34" charset="-122"/>
                <a:cs typeface="Open Sans" pitchFamily="34" charset="-120"/>
              </a:rPr>
              <a:t>إثبات الإنجاز وشفافية أكبر</a:t>
            </a:r>
            <a:endParaRPr lang="ar-SA" sz="700" dirty="0"/>
          </a:p>
          <a:p>
            <a:pPr rtl="1" algn="r" marL="142240" indent="-142240">
              <a:lnSpc>
                <a:spcPct val="100000"/>
              </a:lnSpc>
              <a:buSzPct val="100000"/>
              <a:buChar char="•"/>
            </a:pPr>
            <a:r>
              <a:rPr lang="ar-SA" altLang="en-US" sz="700" dirty="0">
                <a:solidFill>
                  <a:srgbClr val="FFFFFF"/>
                </a:solidFill>
                <a:latin typeface="Open Sans" pitchFamily="34" charset="0"/>
                <a:ea typeface="Open Sans" pitchFamily="34" charset="-122"/>
                <a:cs typeface="Open Sans" pitchFamily="34" charset="-120"/>
              </a:rPr>
              <a:t>مراقبة أداء الجهات</a:t>
            </a:r>
            <a:endParaRPr lang="ar-SA" sz="700" dirty="0"/>
          </a:p>
        </p:txBody>
      </p:sp>
      <p:sp>
        <p:nvSpPr>
          <p:cNvPr id="8" name="Text 6"/>
          <p:cNvSpPr/>
          <p:nvPr/>
        </p:nvSpPr>
        <p:spPr>
          <a:xfrm>
            <a:off x="6217487" y="1095474"/>
            <a:ext cx="5319083" cy="147638"/>
          </a:xfrm>
          <a:prstGeom prst="rect">
            <a:avLst/>
          </a:prstGeom>
          <a:noFill/>
          <a:ln/>
        </p:spPr>
        <p:txBody>
          <a:bodyPr wrap="none" lIns="0" tIns="0" rIns="0" bIns="0" rtlCol="0" anchor="t"/>
          <a:lstStyle/>
          <a:p>
            <a:pPr rtl="1" algn="r" indent="0" marL="0">
              <a:lnSpc>
                <a:spcPct val="104000"/>
              </a:lnSpc>
              <a:buNone/>
            </a:pPr>
            <a:r>
              <a:rPr lang="ar-SA" altLang="en-US" sz="900" b="1" dirty="0">
                <a:solidFill>
                  <a:srgbClr val="101014"/>
                </a:solidFill>
                <a:latin typeface="Playfair Display Bold" pitchFamily="34" charset="0"/>
                <a:ea typeface="Playfair Display Bold" pitchFamily="34" charset="-122"/>
                <a:cs typeface="Playfair Display Bold" pitchFamily="34" charset="-120"/>
              </a:rPr>
              <a:t>مستقبلاً</a:t>
            </a:r>
            <a:endParaRPr lang="ar-SA" sz="900" dirty="0"/>
          </a:p>
        </p:txBody>
      </p:sp>
      <p:sp>
        <p:nvSpPr>
          <p:cNvPr id="9" name="Text 7"/>
          <p:cNvSpPr/>
          <p:nvPr/>
        </p:nvSpPr>
        <p:spPr>
          <a:xfrm>
            <a:off x="6217487" y="1290340"/>
            <a:ext cx="5319083" cy="503039"/>
          </a:xfrm>
          <a:prstGeom prst="rect">
            <a:avLst/>
          </a:prstGeom>
          <a:noFill/>
          <a:ln/>
        </p:spPr>
        <p:txBody>
          <a:bodyPr wrap="square" lIns="0" tIns="0" rIns="37804" bIns="0" rtlCol="0" anchor="t">
            <a:normAutofit/>
          </a:bodyPr>
          <a:lstStyle/>
          <a:p>
            <a:pPr rtl="1" algn="r" marL="142240" indent="-142240">
              <a:lnSpc>
                <a:spcPct val="100000"/>
              </a:lnSpc>
              <a:buSzPct val="100000"/>
              <a:buChar char="•"/>
            </a:pPr>
            <a:r>
              <a:rPr lang="ar-SA" altLang="en-US" sz="700" dirty="0">
                <a:solidFill>
                  <a:srgbClr val="39393C"/>
                </a:solidFill>
                <a:latin typeface="Open Sans" pitchFamily="34" charset="0"/>
                <a:ea typeface="Open Sans" pitchFamily="34" charset="-122"/>
                <a:cs typeface="Open Sans" pitchFamily="34" charset="-120"/>
              </a:rPr>
              <a:t>تحديد المناطق الأكثر احتياجاً</a:t>
            </a:r>
            <a:endParaRPr lang="ar-SA" sz="700" dirty="0"/>
          </a:p>
          <a:p>
            <a:pPr rtl="1" algn="r" marL="142240" indent="-142240">
              <a:lnSpc>
                <a:spcPct val="100000"/>
              </a:lnSpc>
              <a:buSzPct val="100000"/>
              <a:buChar char="•"/>
            </a:pPr>
            <a:r>
              <a:rPr lang="ar-SA" altLang="en-US" sz="700" dirty="0">
                <a:solidFill>
                  <a:srgbClr val="39393C"/>
                </a:solidFill>
                <a:latin typeface="Open Sans" pitchFamily="34" charset="0"/>
                <a:ea typeface="Open Sans" pitchFamily="34" charset="-122"/>
                <a:cs typeface="Open Sans" pitchFamily="34" charset="-120"/>
              </a:rPr>
              <a:t>رصد المشاكل المتكررة وأولويات المشاريع</a:t>
            </a:r>
            <a:endParaRPr lang="ar-SA" sz="700" dirty="0"/>
          </a:p>
          <a:p>
            <a:pPr rtl="1" algn="r" marL="142240" indent="-142240">
              <a:lnSpc>
                <a:spcPct val="100000"/>
              </a:lnSpc>
              <a:buSzPct val="100000"/>
              <a:buChar char="•"/>
            </a:pPr>
            <a:r>
              <a:rPr lang="ar-SA" altLang="en-US" sz="700" dirty="0">
                <a:solidFill>
                  <a:srgbClr val="39393C"/>
                </a:solidFill>
                <a:latin typeface="Open Sans" pitchFamily="34" charset="0"/>
                <a:ea typeface="Open Sans" pitchFamily="34" charset="-122"/>
                <a:cs typeface="Open Sans" pitchFamily="34" charset="-120"/>
              </a:rPr>
              <a:t>قياس متوسط زمن المعالجة</a:t>
            </a:r>
            <a:endParaRPr lang="ar-SA" sz="700" dirty="0"/>
          </a:p>
          <a:p>
            <a:pPr rtl="1" algn="r" marL="142240" indent="-142240">
              <a:lnSpc>
                <a:spcPct val="100000"/>
              </a:lnSpc>
              <a:buSzPct val="100000"/>
              <a:buChar char="•"/>
            </a:pPr>
            <a:r>
              <a:rPr lang="ar-SA" altLang="en-US" sz="700" dirty="0">
                <a:solidFill>
                  <a:srgbClr val="39393C"/>
                </a:solidFill>
                <a:latin typeface="Open Sans" pitchFamily="34" charset="0"/>
                <a:ea typeface="Open Sans" pitchFamily="34" charset="-122"/>
                <a:cs typeface="Open Sans" pitchFamily="34" charset="-120"/>
              </a:rPr>
              <a:t>تحليل ضغط العمل على الموظفين</a:t>
            </a:r>
            <a:endParaRPr lang="ar-SA" sz="700" dirty="0"/>
          </a:p>
        </p:txBody>
      </p:sp>
      <p:pic>
        <p:nvPicPr>
          <p:cNvPr id="10" name="Image 0" descr="preencoded.png">    </p:cNvPr>
          <p:cNvPicPr>
            <a:picLocks noChangeAspect="1"/>
          </p:cNvPicPr>
          <p:nvPr/>
        </p:nvPicPr>
        <p:blipFill>
          <a:blip r:embed="rId1"/>
          <a:stretch>
            <a:fillRect/>
          </a:stretch>
        </p:blipFill>
        <p:spPr>
          <a:xfrm>
            <a:off x="1869830" y="1862931"/>
            <a:ext cx="8452035" cy="3868341"/>
          </a:xfrm>
          <a:prstGeom prst="rect">
            <a:avLst/>
          </a:prstGeom>
        </p:spPr>
      </p:pic>
      <p:sp>
        <p:nvSpPr>
          <p:cNvPr id="11" name="Text 8"/>
          <p:cNvSpPr/>
          <p:nvPr/>
        </p:nvSpPr>
        <p:spPr>
          <a:xfrm>
            <a:off x="2263272" y="4812663"/>
            <a:ext cx="1586817" cy="305687"/>
          </a:xfrm>
          <a:prstGeom prst="rect">
            <a:avLst/>
          </a:prstGeom>
          <a:noFill/>
          <a:ln/>
        </p:spPr>
        <p:txBody>
          <a:bodyPr wrap="none" lIns="0" tIns="0" rIns="0" bIns="0" rtlCol="0" anchor="t"/>
          <a:lstStyle/>
          <a:p>
            <a:pPr rtl="1" algn="ctr" indent="0" marL="0">
              <a:lnSpc>
                <a:spcPct val="104000"/>
              </a:lnSpc>
              <a:buNone/>
            </a:pPr>
            <a:r>
              <a:rPr lang="ar-SA" altLang="en-US" sz="1900" b="1" dirty="0">
                <a:solidFill>
                  <a:srgbClr val="39393C"/>
                </a:solidFill>
                <a:latin typeface="Playfair Display Bold" pitchFamily="34" charset="0"/>
                <a:ea typeface="Playfair Display Bold" pitchFamily="34" charset="-122"/>
                <a:cs typeface="Playfair Display Bold" pitchFamily="34" charset="-120"/>
              </a:rPr>
              <a:t>قرارات أفضل</a:t>
            </a:r>
            <a:endParaRPr lang="ar-SA" sz="1900" dirty="0"/>
          </a:p>
        </p:txBody>
      </p:sp>
      <p:sp>
        <p:nvSpPr>
          <p:cNvPr id="12" name="Text 9"/>
          <p:cNvSpPr/>
          <p:nvPr/>
        </p:nvSpPr>
        <p:spPr>
          <a:xfrm>
            <a:off x="4263096" y="4812663"/>
            <a:ext cx="1586817" cy="305687"/>
          </a:xfrm>
          <a:prstGeom prst="rect">
            <a:avLst/>
          </a:prstGeom>
          <a:noFill/>
          <a:ln/>
        </p:spPr>
        <p:txBody>
          <a:bodyPr wrap="none" lIns="0" tIns="0" rIns="0" bIns="0" rtlCol="0" anchor="t"/>
          <a:lstStyle/>
          <a:p>
            <a:pPr rtl="1" algn="ctr" indent="0" marL="0">
              <a:lnSpc>
                <a:spcPct val="104000"/>
              </a:lnSpc>
              <a:buNone/>
            </a:pPr>
            <a:r>
              <a:rPr lang="ar-SA" altLang="en-US" sz="1900" b="1" dirty="0">
                <a:solidFill>
                  <a:srgbClr val="39393C"/>
                </a:solidFill>
                <a:latin typeface="Playfair Display Bold" pitchFamily="34" charset="0"/>
                <a:ea typeface="Playfair Display Bold" pitchFamily="34" charset="-122"/>
                <a:cs typeface="Playfair Display Bold" pitchFamily="34" charset="-120"/>
              </a:rPr>
              <a:t>تحليل</a:t>
            </a:r>
            <a:endParaRPr lang="ar-SA" sz="1900" dirty="0"/>
          </a:p>
        </p:txBody>
      </p:sp>
      <p:sp>
        <p:nvSpPr>
          <p:cNvPr id="13" name="Text 10"/>
          <p:cNvSpPr/>
          <p:nvPr/>
        </p:nvSpPr>
        <p:spPr>
          <a:xfrm>
            <a:off x="6252051" y="4812663"/>
            <a:ext cx="1586817" cy="305687"/>
          </a:xfrm>
          <a:prstGeom prst="rect">
            <a:avLst/>
          </a:prstGeom>
          <a:noFill/>
          <a:ln/>
        </p:spPr>
        <p:txBody>
          <a:bodyPr wrap="none" lIns="0" tIns="0" rIns="0" bIns="0" rtlCol="0" anchor="t"/>
          <a:lstStyle/>
          <a:p>
            <a:pPr rtl="1" algn="ctr" indent="0" marL="0">
              <a:lnSpc>
                <a:spcPct val="104000"/>
              </a:lnSpc>
              <a:buNone/>
            </a:pPr>
            <a:r>
              <a:rPr lang="ar-SA" altLang="en-US" sz="1900" b="1" dirty="0">
                <a:solidFill>
                  <a:srgbClr val="39393C"/>
                </a:solidFill>
                <a:latin typeface="Playfair Display Bold" pitchFamily="34" charset="0"/>
                <a:ea typeface="Playfair Display Bold" pitchFamily="34" charset="-122"/>
                <a:cs typeface="Playfair Display Bold" pitchFamily="34" charset="-120"/>
              </a:rPr>
              <a:t>بيانات</a:t>
            </a:r>
            <a:endParaRPr lang="ar-SA" sz="1900" dirty="0"/>
          </a:p>
        </p:txBody>
      </p:sp>
      <p:sp>
        <p:nvSpPr>
          <p:cNvPr id="14" name="Text 11"/>
          <p:cNvSpPr/>
          <p:nvPr/>
        </p:nvSpPr>
        <p:spPr>
          <a:xfrm>
            <a:off x="8284481" y="4812663"/>
            <a:ext cx="1586817" cy="305687"/>
          </a:xfrm>
          <a:prstGeom prst="rect">
            <a:avLst/>
          </a:prstGeom>
          <a:noFill/>
          <a:ln/>
        </p:spPr>
        <p:txBody>
          <a:bodyPr wrap="none" lIns="0" tIns="0" rIns="0" bIns="0" rtlCol="0" anchor="t"/>
          <a:lstStyle/>
          <a:p>
            <a:pPr rtl="1" algn="ctr" indent="0" marL="0">
              <a:lnSpc>
                <a:spcPct val="104000"/>
              </a:lnSpc>
              <a:buNone/>
            </a:pPr>
            <a:r>
              <a:rPr lang="ar-SA" altLang="en-US" sz="1900" b="1" dirty="0">
                <a:solidFill>
                  <a:srgbClr val="39393C"/>
                </a:solidFill>
                <a:latin typeface="Playfair Display Bold" pitchFamily="34" charset="0"/>
                <a:ea typeface="Playfair Display Bold" pitchFamily="34" charset="-122"/>
                <a:cs typeface="Playfair Display Bold" pitchFamily="34" charset="-120"/>
              </a:rPr>
              <a:t>بلاغات</a:t>
            </a:r>
            <a:endParaRPr lang="ar-SA" sz="1900" dirty="0"/>
          </a:p>
        </p:txBody>
      </p:sp>
      <p:sp>
        <p:nvSpPr>
          <p:cNvPr id="15" name="Text 12"/>
          <p:cNvSpPr/>
          <p:nvPr/>
        </p:nvSpPr>
        <p:spPr>
          <a:xfrm>
            <a:off x="51890" y="5784354"/>
            <a:ext cx="11478330" cy="113407"/>
          </a:xfrm>
          <a:prstGeom prst="rect">
            <a:avLst/>
          </a:prstGeom>
          <a:noFill/>
          <a:ln/>
        </p:spPr>
        <p:txBody>
          <a:bodyPr wrap="none" lIns="0" tIns="0" rIns="0" bIns="0" rtlCol="0" anchor="t"/>
          <a:lstStyle/>
          <a:p>
            <a:pPr rtl="1" algn="r" indent="0" marL="0">
              <a:lnSpc>
                <a:spcPct val="100000"/>
              </a:lnSpc>
              <a:buNone/>
            </a:pPr>
            <a:r>
              <a:rPr lang="ar-SA" altLang="en-US" sz="700" dirty="0">
                <a:solidFill>
                  <a:srgbClr val="39393C"/>
                </a:solidFill>
                <a:latin typeface="Open Sans" pitchFamily="34" charset="0"/>
                <a:ea typeface="Open Sans" pitchFamily="34" charset="-122"/>
                <a:cs typeface="Open Sans" pitchFamily="34" charset="-120"/>
              </a:rPr>
              <a:t>تتطور بلّغنا من مجرد منصة بلاغات إلى أداة تحليلية تُنتج بيانات قابلة للاستخدام في صنع القرار الحكومي.</a:t>
            </a:r>
            <a:endParaRPr lang="ar-SA" sz="700" dirty="0"/>
          </a:p>
        </p:txBody>
      </p:sp>
      <p:sp>
        <p:nvSpPr>
          <p:cNvPr id="16" name="Text 13"/>
          <p:cNvSpPr/>
          <p:nvPr/>
        </p:nvSpPr>
        <p:spPr>
          <a:xfrm>
            <a:off x="661475" y="5968603"/>
            <a:ext cx="10868745" cy="407491"/>
          </a:xfrm>
          <a:prstGeom prst="rect">
            <a:avLst/>
          </a:prstGeom>
          <a:noFill/>
          <a:ln/>
        </p:spPr>
        <p:txBody>
          <a:bodyPr wrap="none" lIns="0" tIns="0" rIns="0" bIns="0" rtlCol="0" anchor="t"/>
          <a:lstStyle/>
          <a:p>
            <a:pPr rtl="1" algn="r" indent="0" marL="0">
              <a:lnSpc>
                <a:spcPct val="104000"/>
              </a:lnSpc>
              <a:buNone/>
            </a:pPr>
            <a:r>
              <a:rPr lang="ar-SA" altLang="en-US" sz="2550" b="1" dirty="0">
                <a:solidFill>
                  <a:srgbClr val="101014"/>
                </a:solidFill>
                <a:latin typeface="Playfair Display Bold" pitchFamily="34" charset="0"/>
                <a:ea typeface="Playfair Display Bold" pitchFamily="34" charset="-122"/>
                <a:cs typeface="Playfair Display Bold" pitchFamily="34" charset="-120"/>
              </a:rPr>
              <a:t>بلّغنا لا يدير الشكاوى فقط، بل يدير دورة حياة المشكلة</a:t>
            </a:r>
            <a:endParaRPr lang="ar-SA" sz="2550" dirty="0"/>
          </a:p>
        </p:txBody>
      </p:sp>
      <p:sp>
        <p:nvSpPr>
          <p:cNvPr id="17" name="Text 14"/>
          <p:cNvSpPr/>
          <p:nvPr/>
        </p:nvSpPr>
        <p:spPr>
          <a:xfrm>
            <a:off x="661475" y="6446937"/>
            <a:ext cx="10868745" cy="279896"/>
          </a:xfrm>
          <a:prstGeom prst="rect">
            <a:avLst/>
          </a:prstGeom>
          <a:noFill/>
          <a:ln/>
        </p:spPr>
        <p:txBody>
          <a:bodyPr wrap="square" lIns="0" tIns="0" rIns="0" bIns="0" rtlCol="0" anchor="t"/>
          <a:lstStyle/>
          <a:p>
            <a:pPr rtl="1" algn="r" indent="0" marL="0">
              <a:lnSpc>
                <a:spcPct val="100000"/>
              </a:lnSpc>
              <a:spcAft>
                <a:spcPts val="400"/>
              </a:spcAft>
              <a:buNone/>
            </a:pPr>
            <a:r>
              <a:rPr lang="ar-SA" altLang="en-US" sz="700" dirty="0">
                <a:solidFill>
                  <a:srgbClr val="39393C"/>
                </a:solidFill>
                <a:latin typeface="Open Sans" pitchFamily="34" charset="0"/>
                <a:ea typeface="Open Sans" pitchFamily="34" charset="-122"/>
                <a:cs typeface="Open Sans" pitchFamily="34" charset="-120"/>
              </a:rPr>
              <a:t>من لحظة البلاغ حتى إثبات الحل.</a:t>
            </a:r>
            <a:endParaRPr lang="ar-SA" sz="700" dirty="0"/>
          </a:p>
          <a:p>
            <a:pPr algn="r" indent="0" marL="0">
              <a:lnSpc>
                <a:spcPct val="100000"/>
              </a:lnSpc>
              <a:buNone/>
            </a:pPr>
            <a:r>
              <a:rPr lang="ar-SA" altLang="en-US" sz="700" i="1" dirty="0">
                <a:solidFill>
                  <a:srgbClr val="39393C"/>
                </a:solidFill>
                <a:latin typeface="Open Sans" pitchFamily="34" charset="0"/>
                <a:ea typeface="Open Sans" pitchFamily="34" charset="-122"/>
                <a:cs typeface="Open Sans" pitchFamily="34" charset="-120"/>
              </a:rPr>
              <a:t>BALIGHNA — From Report to Resolution</a:t>
            </a:r>
            <a:endParaRPr lang="ar-SA"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2026-08-22T15:22:22Z</dcterms:created>
  <dcterms:modified xsi:type="dcterms:W3CDTF">2026-08-22T15:22:22Z</dcterms:modified>
</cp:coreProperties>
</file>